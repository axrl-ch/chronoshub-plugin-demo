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71.xml" ContentType="application/vnd.openxmlformats-officedocument.presentationml.slide+xml"/>
  <Override PartName="/ppt/slides/slide7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5"/>
  </p:notesMasterIdLst>
  <p:sldIdLst>
    <p:sldId id="326" r:id="rId5"/>
    <p:sldId id="290" r:id="rId40"/>
    <p:sldId id="283" r:id="rId33"/>
    <p:sldId id="329" r:id="rId38"/>
    <p:sldId id="334" r:id="rId80"/>
    <p:sldId id="335" r:id="rId81"/>
    <p:sldId id="289" r:id="rId39"/>
    <p:sldId id="277" r:id="rId27"/>
    <p:sldId id="315" r:id="rId6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1pPr>
    <a:lvl2pPr marL="0" marR="0" indent="457117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2pPr>
    <a:lvl3pPr marL="0" marR="0" indent="914234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3pPr>
    <a:lvl4pPr marL="0" marR="0" indent="1371353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4pPr>
    <a:lvl5pPr marL="0" marR="0" indent="182846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5pPr>
    <a:lvl6pPr marL="0" marR="0" indent="2285588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6pPr>
    <a:lvl7pPr marL="0" marR="0" indent="2742705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7pPr>
    <a:lvl8pPr marL="0" marR="0" indent="3199822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8pPr>
    <a:lvl9pPr marL="0" marR="0" indent="365693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9pPr>
  </p:defaultTextStyle>
  <p:extLst>
    <p:ext uri="{521415D9-36F7-43E2-AB2F-B90AF26B5E84}">
      <p14:sectionLst xmlns:p14="http://schemas.microsoft.com/office/powerpoint/2010/main">
        <p14:section name="Working slides" id="{12A10655-B00F-B546-A5E0-09060B06241C}">
          <p14:sldIdLst>
            <p14:sldId id="326"/>
          </p14:sldIdLst>
        </p14:section>
        <p14:section name="Template slides" id="{C75A84C8-6633-A54D-AE16-BAD1FC83A9A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329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27"/>
            <p14:sldId id="328"/>
            <p14:sldId id="307"/>
            <p14:sldId id="332"/>
            <p14:sldId id="333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Tokens and assets" id="{18096EAF-35E0-1147-9A8A-5507082F7FBF}">
          <p14:sldIdLst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6"/>
    <p:restoredTop sz="94752"/>
  </p:normalViewPr>
  <p:slideViewPr>
    <p:cSldViewPr>
      <p:cViewPr varScale="1">
        <p:scale>
          <a:sx n="37" d="100"/>
          <a:sy n="37" d="100"/>
        </p:scale>
        <p:origin x="379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169" d="100"/>
          <a:sy n="169" d="100"/>
        </p:scale>
        <p:origin x="8624" y="2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slide" Target="slides/slide36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27" Type="http://schemas.openxmlformats.org/officeDocument/2006/relationships/slide" Target="slides/slide23.xml"/><Relationship Id="rId77" Type="http://schemas.openxmlformats.org/officeDocument/2006/relationships/viewProps" Target="viewProps.xml"/><Relationship Id="rId3" Type="http://schemas.openxmlformats.org/officeDocument/2006/relationships/customXml" Target="../customXml/item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5" Type="http://schemas.openxmlformats.org/officeDocument/2006/relationships/slide" Target="slides/slide61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39" Type="http://schemas.openxmlformats.org/officeDocument/2006/relationships/slide" Target="slides/slide35.xml"/><Relationship Id="rId76" Type="http://schemas.openxmlformats.org/officeDocument/2006/relationships/presProps" Target="presProps.xml"/><Relationship Id="rId2" Type="http://schemas.openxmlformats.org/officeDocument/2006/relationships/customXml" Target="../customXml/item2.xml"/><Relationship Id="rId80" Type="http://schemas.openxmlformats.org/officeDocument/2006/relationships/slide" Target="slides/slide71.xml"/><Relationship Id="rId81" Type="http://schemas.openxmlformats.org/officeDocument/2006/relationships/slide" Target="slides/slide7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nk (With ChronosHub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ck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Marine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Violet Accent (With ChronosHub Logo) copy 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_Color.pdf" descr="Full_Color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0" y="508000"/>
            <a:ext cx="2032000" cy="308187"/>
          </a:xfrm>
          <a:prstGeom prst="rect">
            <a:avLst/>
          </a:prstGeom>
          <a:ln w="3175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19199" y="184149"/>
            <a:ext cx="21945601" cy="301625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199" y="3200399"/>
            <a:ext cx="21945601" cy="1051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036938" y="12720956"/>
            <a:ext cx="670663" cy="713741"/>
          </a:xfrm>
          <a:prstGeom prst="rect">
            <a:avLst/>
          </a:prstGeom>
          <a:ln w="3175">
            <a:miter lim="400000"/>
          </a:ln>
        </p:spPr>
        <p:txBody>
          <a:bodyPr wrap="none" lIns="121919" tIns="121919" rIns="121919" bIns="121919" anchor="ctr">
            <a:spAutoFit/>
          </a:bodyPr>
          <a:lstStyle>
            <a:lvl1pPr algn="r">
              <a:defRPr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titleStyle>
    <p:bodyStyle>
      <a:lvl1pPr marL="424528" marR="0" indent="-424528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838171" marR="0" indent="-495282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1280117" marR="0" indent="-594339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1714443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2057331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2400220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274310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308599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3428887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bodyStyle>
    <p:otherStyle>
      <a:lvl1pPr marL="0" marR="0" indent="0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1pPr>
      <a:lvl2pPr marL="0" marR="0" indent="457117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2pPr>
      <a:lvl3pPr marL="0" marR="0" indent="914234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3pPr>
      <a:lvl4pPr marL="0" marR="0" indent="1371353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4pPr>
      <a:lvl5pPr marL="0" marR="0" indent="182846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5pPr>
      <a:lvl6pPr marL="0" marR="0" indent="2285588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6pPr>
      <a:lvl7pPr marL="0" marR="0" indent="2742705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7pPr>
      <a:lvl8pPr marL="0" marR="0" indent="3199822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8pPr>
      <a:lvl9pPr marL="0" marR="0" indent="365693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FE32-3FEF-61B4-1637-A8477E1D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ull_Color.pdf" descr="Full_Color.pdf">
            <a:extLst>
              <a:ext uri="{FF2B5EF4-FFF2-40B4-BE49-F238E27FC236}">
                <a16:creationId xmlns:a16="http://schemas.microsoft.com/office/drawing/2014/main" id="{C92DB291-9A3F-16AC-2551-CA14F5E205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800000"/>
            <a:ext cx="5080000" cy="770469"/>
          </a:xfrm>
          <a:prstGeom prst="rect">
            <a:avLst/>
          </a:prstGeom>
          <a:ln w="3175">
            <a:miter lim="400000"/>
          </a:ln>
        </p:spPr>
      </p:pic>
      <p:sp>
        <p:nvSpPr>
          <p:cNvPr id="119" name="Text">
            <a:extLst>
              <a:ext uri="{FF2B5EF4-FFF2-40B4-BE49-F238E27FC236}">
                <a16:creationId xmlns:a16="http://schemas.microsoft.com/office/drawing/2014/main" id="{D7437C5D-B81F-6857-53B3-1849F864A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7825" y="7820660"/>
            <a:ext cx="18288000" cy="345270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"/>
                <a:ea typeface="Sora"/>
                <a:cs typeface="Sora"/>
                <a:sym typeface="Sora Medium"/>
              </a:defRPr>
            </a:pPr>
            <a:r>
              <a:rPr lang="da-DK" dirty="0"/>
              <a:t>Managing Skills Across the Company</a:t>
            </a:r>
            <a:endParaRPr dirty="0"/>
          </a:p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 Light"/>
                <a:ea typeface="Sora Light"/>
                <a:cs typeface="Sora Light"/>
                <a:sym typeface="Sora Light"/>
              </a:defRPr>
            </a:pPr>
            <a:r>
              <a:rPr lang="da-DK" dirty="0"/>
              <a:t>Skill governance at scale</a:t>
            </a:r>
            <a:endParaRPr dirty="0"/>
          </a:p>
        </p:txBody>
      </p:sp>
      <p:sp>
        <p:nvSpPr>
          <p:cNvPr id="117" name="Text">
            <a:extLst>
              <a:ext uri="{FF2B5EF4-FFF2-40B4-BE49-F238E27FC236}">
                <a16:creationId xmlns:a16="http://schemas.microsoft.com/office/drawing/2014/main" id="{F5CD03A2-3241-A628-B369-5327DB32B0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3800" y="11915114"/>
            <a:ext cx="11378608" cy="7268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0" tIns="127000" rIns="127000" bIns="127000" anchor="b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lang="da-DK" dirty="0"/>
              <a:t>26</a:t>
            </a:r>
            <a:r>
              <a:rPr dirty="0"/>
              <a:t>-</a:t>
            </a:r>
            <a:r>
              <a:rPr lang="da-DK" dirty="0"/>
              <a:t>06</a:t>
            </a:r>
            <a:r>
              <a:rPr dirty="0"/>
              <a:t>-</a:t>
            </a:r>
            <a:r>
              <a:rPr lang="da-DK" dirty="0"/>
              <a:t>11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43698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Curve Insert (Marine-Indigo).svg" descr="Curve Insert (Marine-Indigo).sv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36111"/>
          <a:stretch>
            <a:fillRect/>
          </a:stretch>
        </p:blipFill>
        <p:spPr>
          <a:xfrm>
            <a:off x="8805333" y="-1"/>
            <a:ext cx="15578668" cy="13716001"/>
          </a:xfrm>
          <a:prstGeom prst="rect">
            <a:avLst/>
          </a:prstGeom>
          <a:ln w="3175">
            <a:miter lim="400000"/>
          </a:ln>
        </p:spPr>
      </p:pic>
      <p:pic>
        <p:nvPicPr>
          <p:cNvPr id="280" name="Full_Color.pdf" descr="Full_Color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0" y="503766"/>
            <a:ext cx="2032000" cy="308188"/>
          </a:xfrm>
          <a:prstGeom prst="rect">
            <a:avLst/>
          </a:prstGeom>
          <a:ln w="3175">
            <a:miter lim="400000"/>
          </a:ln>
        </p:spPr>
      </p:pic>
      <p:sp>
        <p:nvSpPr>
          <p:cNvPr id="281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04280"/>
            <a:ext cx="6583680" cy="11074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5400">
                <a:latin typeface="Sora Light"/>
                <a:ea typeface="Sora Light"/>
                <a:cs typeface="Sora Light"/>
                <a:sym typeface="Sora Light"/>
              </a:defRPr>
            </a:lvl1pPr>
          </a:lstStyle>
          <a:p>
            <a:r>
              <a:rPr dirty="0"/>
              <a:t>The Recommendation</a:t>
            </a:r>
          </a:p>
        </p:txBody>
      </p:sp>
      <p:sp>
        <p:nvSpPr>
          <p:cNvPr id="28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14600" y="6219189"/>
            <a:ext cx="10160001" cy="12776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Publish. Sync.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Update automatically.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6800" y="1066800"/>
            <a:ext cx="10972800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/>
              <a:t>The Solution</a:t>
            </a:r>
          </a:p>
        </p:txBody>
      </p:sp>
      <p:pic>
        <p:nvPicPr>
          <p:cNvPr id="311" name="Gradient-Violet.pdf" descr="Gradient-Violet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44565" t="40338" r="33695" b="5556"/>
          <a:stretch>
            <a:fillRect/>
          </a:stretch>
        </p:blipFill>
        <p:spPr>
          <a:xfrm>
            <a:off x="1083733" y="3166664"/>
            <a:ext cx="6773466" cy="9482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05" y="0"/>
                </a:moveTo>
                <a:cubicBezTo>
                  <a:pt x="357" y="0"/>
                  <a:pt x="268" y="0"/>
                  <a:pt x="209" y="18"/>
                </a:cubicBezTo>
                <a:cubicBezTo>
                  <a:pt x="123" y="40"/>
                  <a:pt x="56" y="88"/>
                  <a:pt x="25" y="149"/>
                </a:cubicBezTo>
                <a:cubicBezTo>
                  <a:pt x="1" y="192"/>
                  <a:pt x="0" y="255"/>
                  <a:pt x="0" y="361"/>
                </a:cubicBezTo>
                <a:lnTo>
                  <a:pt x="0" y="21239"/>
                </a:lnTo>
                <a:cubicBezTo>
                  <a:pt x="0" y="21345"/>
                  <a:pt x="1" y="21408"/>
                  <a:pt x="25" y="21450"/>
                </a:cubicBezTo>
                <a:cubicBezTo>
                  <a:pt x="56" y="21511"/>
                  <a:pt x="123" y="21560"/>
                  <a:pt x="209" y="21582"/>
                </a:cubicBezTo>
                <a:cubicBezTo>
                  <a:pt x="268" y="21600"/>
                  <a:pt x="357" y="21599"/>
                  <a:pt x="505" y="21599"/>
                </a:cubicBezTo>
                <a:lnTo>
                  <a:pt x="21094" y="21599"/>
                </a:lnTo>
                <a:cubicBezTo>
                  <a:pt x="21242" y="21599"/>
                  <a:pt x="21332" y="21600"/>
                  <a:pt x="21391" y="21582"/>
                </a:cubicBezTo>
                <a:cubicBezTo>
                  <a:pt x="21477" y="21560"/>
                  <a:pt x="21544" y="21511"/>
                  <a:pt x="21575" y="21450"/>
                </a:cubicBezTo>
                <a:cubicBezTo>
                  <a:pt x="21599" y="21408"/>
                  <a:pt x="21600" y="21345"/>
                  <a:pt x="21600" y="21239"/>
                </a:cubicBezTo>
                <a:lnTo>
                  <a:pt x="21600" y="361"/>
                </a:lnTo>
                <a:cubicBezTo>
                  <a:pt x="21600" y="255"/>
                  <a:pt x="21599" y="192"/>
                  <a:pt x="21575" y="149"/>
                </a:cubicBezTo>
                <a:cubicBezTo>
                  <a:pt x="21544" y="88"/>
                  <a:pt x="21477" y="40"/>
                  <a:pt x="21391" y="18"/>
                </a:cubicBezTo>
                <a:cubicBezTo>
                  <a:pt x="21332" y="0"/>
                  <a:pt x="21242" y="0"/>
                  <a:pt x="21094" y="0"/>
                </a:cubicBezTo>
                <a:lnTo>
                  <a:pt x="505" y="0"/>
                </a:lnTo>
                <a:close/>
              </a:path>
            </a:pathLst>
          </a:custGeom>
          <a:ln w="3175">
            <a:miter lim="400000"/>
          </a:ln>
        </p:spPr>
      </p:pic>
      <p:sp>
        <p:nvSpPr>
          <p:cNvPr id="313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2399" y="3524380"/>
            <a:ext cx="6096001" cy="7137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Plugin Marketplace</a:t>
            </a:r>
          </a:p>
        </p:txBody>
      </p:sp>
      <p:sp>
        <p:nvSpPr>
          <p:cNvPr id="316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2399" y="10893344"/>
            <a:ext cx="6096001" cy="14173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lvl1pPr>
          </a:lstStyle>
          <a:p>
            <a:r>
              <a:t>Publish mandatory skills as required plugins. Auto-installs for all workspace members.</a:t>
            </a:r>
          </a:p>
        </p:txBody>
      </p:sp>
      <p:pic>
        <p:nvPicPr>
          <p:cNvPr id="309" name="Gradient-Violet.pdf" descr="Gradient-Violet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3693" t="239" r="54566" b="45654"/>
          <a:stretch>
            <a:fillRect/>
          </a:stretch>
        </p:blipFill>
        <p:spPr>
          <a:xfrm>
            <a:off x="8805333" y="3166664"/>
            <a:ext cx="6773467" cy="9482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05" y="0"/>
                </a:moveTo>
                <a:cubicBezTo>
                  <a:pt x="357" y="0"/>
                  <a:pt x="268" y="0"/>
                  <a:pt x="209" y="18"/>
                </a:cubicBezTo>
                <a:cubicBezTo>
                  <a:pt x="123" y="40"/>
                  <a:pt x="56" y="88"/>
                  <a:pt x="25" y="149"/>
                </a:cubicBezTo>
                <a:cubicBezTo>
                  <a:pt x="1" y="192"/>
                  <a:pt x="0" y="255"/>
                  <a:pt x="0" y="361"/>
                </a:cubicBezTo>
                <a:lnTo>
                  <a:pt x="0" y="21239"/>
                </a:lnTo>
                <a:cubicBezTo>
                  <a:pt x="0" y="21345"/>
                  <a:pt x="1" y="21408"/>
                  <a:pt x="25" y="21450"/>
                </a:cubicBezTo>
                <a:cubicBezTo>
                  <a:pt x="56" y="21511"/>
                  <a:pt x="123" y="21560"/>
                  <a:pt x="209" y="21582"/>
                </a:cubicBezTo>
                <a:cubicBezTo>
                  <a:pt x="268" y="21600"/>
                  <a:pt x="357" y="21599"/>
                  <a:pt x="505" y="21599"/>
                </a:cubicBezTo>
                <a:lnTo>
                  <a:pt x="21094" y="21599"/>
                </a:lnTo>
                <a:cubicBezTo>
                  <a:pt x="21242" y="21599"/>
                  <a:pt x="21332" y="21600"/>
                  <a:pt x="21391" y="21582"/>
                </a:cubicBezTo>
                <a:cubicBezTo>
                  <a:pt x="21477" y="21560"/>
                  <a:pt x="21544" y="21511"/>
                  <a:pt x="21575" y="21450"/>
                </a:cubicBezTo>
                <a:cubicBezTo>
                  <a:pt x="21599" y="21408"/>
                  <a:pt x="21600" y="21345"/>
                  <a:pt x="21600" y="21239"/>
                </a:cubicBezTo>
                <a:lnTo>
                  <a:pt x="21600" y="361"/>
                </a:lnTo>
                <a:cubicBezTo>
                  <a:pt x="21600" y="255"/>
                  <a:pt x="21599" y="192"/>
                  <a:pt x="21575" y="149"/>
                </a:cubicBezTo>
                <a:cubicBezTo>
                  <a:pt x="21544" y="88"/>
                  <a:pt x="21477" y="40"/>
                  <a:pt x="21391" y="18"/>
                </a:cubicBezTo>
                <a:cubicBezTo>
                  <a:pt x="21332" y="0"/>
                  <a:pt x="21242" y="0"/>
                  <a:pt x="21094" y="0"/>
                </a:cubicBezTo>
                <a:lnTo>
                  <a:pt x="505" y="0"/>
                </a:lnTo>
                <a:close/>
              </a:path>
            </a:pathLst>
          </a:custGeom>
          <a:ln w="3175">
            <a:miter lim="400000"/>
          </a:ln>
        </p:spPr>
      </p:pic>
      <p:sp>
        <p:nvSpPr>
          <p:cNvPr id="314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0" y="3524380"/>
            <a:ext cx="6096000" cy="7137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GitHub Sync</a:t>
            </a:r>
          </a:p>
        </p:txBody>
      </p:sp>
      <p:sp>
        <p:nvSpPr>
          <p:cNvPr id="317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0" y="10893344"/>
            <a:ext cx="6096000" cy="14173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Connect the marketplace to a repo.</a:t>
            </a:r>
          </a:p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PR-based authoring, version control, and review.</a:t>
            </a:r>
          </a:p>
        </p:txBody>
      </p:sp>
      <p:pic>
        <p:nvPicPr>
          <p:cNvPr id="310" name="Gradient-Violet.pdf" descr="Gradient-Violet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65052" t="7251" r="13208" b="38643"/>
          <a:stretch>
            <a:fillRect/>
          </a:stretch>
        </p:blipFill>
        <p:spPr>
          <a:xfrm>
            <a:off x="16526932" y="3166664"/>
            <a:ext cx="6773467" cy="9482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05" y="0"/>
                </a:moveTo>
                <a:cubicBezTo>
                  <a:pt x="357" y="0"/>
                  <a:pt x="268" y="0"/>
                  <a:pt x="209" y="18"/>
                </a:cubicBezTo>
                <a:cubicBezTo>
                  <a:pt x="123" y="40"/>
                  <a:pt x="56" y="88"/>
                  <a:pt x="25" y="149"/>
                </a:cubicBezTo>
                <a:cubicBezTo>
                  <a:pt x="1" y="192"/>
                  <a:pt x="0" y="255"/>
                  <a:pt x="0" y="361"/>
                </a:cubicBezTo>
                <a:lnTo>
                  <a:pt x="0" y="21239"/>
                </a:lnTo>
                <a:cubicBezTo>
                  <a:pt x="0" y="21345"/>
                  <a:pt x="1" y="21408"/>
                  <a:pt x="25" y="21450"/>
                </a:cubicBezTo>
                <a:cubicBezTo>
                  <a:pt x="56" y="21511"/>
                  <a:pt x="123" y="21560"/>
                  <a:pt x="209" y="21582"/>
                </a:cubicBezTo>
                <a:cubicBezTo>
                  <a:pt x="268" y="21600"/>
                  <a:pt x="357" y="21599"/>
                  <a:pt x="505" y="21599"/>
                </a:cubicBezTo>
                <a:lnTo>
                  <a:pt x="21094" y="21599"/>
                </a:lnTo>
                <a:cubicBezTo>
                  <a:pt x="21242" y="21599"/>
                  <a:pt x="21332" y="21600"/>
                  <a:pt x="21391" y="21582"/>
                </a:cubicBezTo>
                <a:cubicBezTo>
                  <a:pt x="21477" y="21560"/>
                  <a:pt x="21544" y="21511"/>
                  <a:pt x="21575" y="21450"/>
                </a:cubicBezTo>
                <a:cubicBezTo>
                  <a:pt x="21599" y="21408"/>
                  <a:pt x="21600" y="21345"/>
                  <a:pt x="21600" y="21239"/>
                </a:cubicBezTo>
                <a:lnTo>
                  <a:pt x="21600" y="361"/>
                </a:lnTo>
                <a:cubicBezTo>
                  <a:pt x="21600" y="255"/>
                  <a:pt x="21599" y="192"/>
                  <a:pt x="21575" y="149"/>
                </a:cubicBezTo>
                <a:cubicBezTo>
                  <a:pt x="21544" y="88"/>
                  <a:pt x="21477" y="40"/>
                  <a:pt x="21391" y="18"/>
                </a:cubicBezTo>
                <a:cubicBezTo>
                  <a:pt x="21332" y="0"/>
                  <a:pt x="21242" y="0"/>
                  <a:pt x="21094" y="0"/>
                </a:cubicBezTo>
                <a:lnTo>
                  <a:pt x="505" y="0"/>
                </a:lnTo>
                <a:close/>
              </a:path>
            </a:pathLst>
          </a:custGeom>
          <a:ln w="3175">
            <a:miter lim="400000"/>
          </a:ln>
        </p:spPr>
      </p:pic>
      <p:sp>
        <p:nvSpPr>
          <p:cNvPr id="315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865600" y="3524380"/>
            <a:ext cx="6096000" cy="7137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Auto-Updates</a:t>
            </a:r>
          </a:p>
        </p:txBody>
      </p:sp>
      <p:sp>
        <p:nvSpPr>
          <p:cNvPr id="318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865600" y="10893344"/>
            <a:ext cx="6096000" cy="14173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Enable auto-update on push. Every user</a:t>
            </a:r>
          </a:p>
          <a:p>
            <a:pPr>
              <a:defRPr sz="3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defRPr>
            </a:pPr>
            <a:r>
              <a:t>gets the latest skill on their next session.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kstfelt 1"/>
          <p:cNvSpPr txBox="1"/>
          <p:nvPr/>
        </p:nvSpPr>
        <p:spPr>
          <a:xfrm>
            <a:off x="1071032" y="6399530"/>
            <a:ext cx="7620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t>Plugin Marketplace</a:t>
            </a:r>
          </a:p>
        </p:txBody>
      </p:sp>
      <p:grpSp>
        <p:nvGrpSpPr>
          <p:cNvPr id="344" name="Group"/>
          <p:cNvGrpSpPr/>
          <p:nvPr/>
        </p:nvGrpSpPr>
        <p:grpSpPr>
          <a:xfrm>
            <a:off x="11231033" y="2852419"/>
            <a:ext cx="10922001" cy="2331722"/>
            <a:chOff x="0" y="0"/>
            <a:chExt cx="10922000" cy="2331720"/>
          </a:xfrm>
        </p:grpSpPr>
        <p:sp>
          <p:nvSpPr>
            <p:cNvPr id="342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Required plugins install for all workspace members —</a:t>
              </a:r>
            </a:p>
            <a:p>
              <a:pPr>
                <a:defRPr sz="2800"/>
              </a:pPr>
              <a:r>
                <a:t>no opt-in, no setup, no follow-up required.</a:t>
              </a:r>
            </a:p>
          </p:txBody>
        </p:sp>
        <p:sp>
          <p:nvSpPr>
            <p:cNvPr id="343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Auto-installed for everyone</a:t>
              </a:r>
            </a:p>
          </p:txBody>
        </p:sp>
      </p:grpSp>
      <p:grpSp>
        <p:nvGrpSpPr>
          <p:cNvPr id="347" name="Group"/>
          <p:cNvGrpSpPr/>
          <p:nvPr/>
        </p:nvGrpSpPr>
        <p:grpSpPr>
          <a:xfrm>
            <a:off x="11231033" y="5692139"/>
            <a:ext cx="10922001" cy="2331722"/>
            <a:chOff x="0" y="0"/>
            <a:chExt cx="10922000" cy="2331720"/>
          </a:xfrm>
        </p:grpSpPr>
        <p:sp>
          <p:nvSpPr>
            <p:cNvPr id="345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Admins publish a skill once to the marketplace.</a:t>
              </a:r>
            </a:p>
            <a:p>
              <a:pPr>
                <a:defRPr sz="2800"/>
              </a:pPr>
              <a:r>
                <a:t>It becomes mandatory for the entire workspace instantly.</a:t>
              </a:r>
            </a:p>
            <a:p>
              <a:pPr>
                <a:defRPr sz="2800"/>
              </a:pPr>
              <a:r>
                <a:t/>
              </a:r>
            </a:p>
          </p:txBody>
        </p:sp>
        <p:sp>
          <p:nvSpPr>
            <p:cNvPr id="346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Admin-controlled and mandatory</a:t>
              </a:r>
            </a:p>
          </p:txBody>
        </p:sp>
      </p:grpSp>
      <p:grpSp>
        <p:nvGrpSpPr>
          <p:cNvPr id="350" name="Group"/>
          <p:cNvGrpSpPr/>
          <p:nvPr/>
        </p:nvGrpSpPr>
        <p:grpSpPr>
          <a:xfrm>
            <a:off x="11231033" y="8531859"/>
            <a:ext cx="10922001" cy="2331722"/>
            <a:chOff x="0" y="0"/>
            <a:chExt cx="10922000" cy="2331720"/>
          </a:xfrm>
        </p:grpSpPr>
        <p:sp>
          <p:nvSpPr>
            <p:cNvPr id="348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Admins decide which skills are required. Users cannot skip or accidentally remove them.</a:t>
              </a:r>
            </a:p>
          </p:txBody>
        </p:sp>
        <p:sp>
          <p:nvSpPr>
            <p:cNvPr id="349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Single source of truth for all skills</a:t>
              </a:r>
            </a:p>
          </p:txBody>
        </p:sp>
      </p:grp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99530"/>
            <a:ext cx="5842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t>Why GitHub Sync</a:t>
            </a:r>
          </a:p>
        </p:txBody>
      </p:sp>
      <p:grpSp>
        <p:nvGrpSpPr>
          <p:cNvPr id="351" name="Group"/>
          <p:cNvGrpSpPr>
            <a:grpSpLocks noGrp="1" noUngrp="1" noRot="1" noMove="1" noResize="1"/>
          </p:cNvGrpSpPr>
          <p:nvPr/>
        </p:nvGrpSpPr>
        <p:grpSpPr>
          <a:xfrm>
            <a:off x="8183033" y="4765040"/>
            <a:ext cx="7112001" cy="1828800"/>
            <a:chOff x="0" y="0"/>
            <a:chExt cx="7112000" cy="1828799"/>
          </a:xfrm>
        </p:grpSpPr>
        <p:sp>
          <p:nvSpPr>
            <p:cNvPr id="350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Version control</a:t>
              </a:r>
            </a:p>
          </p:txBody>
        </p:sp>
        <p:sp>
          <p:nvSpPr>
            <p:cNvPr id="34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Every change is tracked and revertible. No “which version is this?” confusion ever again.</a:t>
              </a:r>
            </a:p>
          </p:txBody>
        </p:sp>
      </p:grpSp>
      <p:grpSp>
        <p:nvGrpSpPr>
          <p:cNvPr id="354" name="Group"/>
          <p:cNvGrpSpPr>
            <a:grpSpLocks noGrp="1" noUngrp="1" noRot="1" noMove="1" noResize="1"/>
          </p:cNvGrpSpPr>
          <p:nvPr/>
        </p:nvGrpSpPr>
        <p:grpSpPr>
          <a:xfrm>
            <a:off x="8183033" y="7122159"/>
            <a:ext cx="7112001" cy="1828801"/>
            <a:chOff x="0" y="0"/>
            <a:chExt cx="7112000" cy="1828799"/>
          </a:xfrm>
        </p:grpSpPr>
        <p:sp>
          <p:nvSpPr>
            <p:cNvPr id="353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Multi-author ready</a:t>
              </a:r>
            </a:p>
          </p:txBody>
        </p:sp>
        <p:sp>
          <p:nvSpPr>
            <p:cNvPr id="352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Developers, admins, and PMs all contribute via</a:t>
              </a:r>
            </a:p>
            <a:p>
              <a:pPr>
                <a:defRPr sz="2800"/>
              </a:pPr>
              <a:r>
                <a:t>PRs without stepping on each other.</a:t>
              </a:r>
            </a:p>
          </p:txBody>
        </p:sp>
      </p:grpSp>
      <p:grpSp>
        <p:nvGrpSpPr>
          <p:cNvPr id="357" name="Group"/>
          <p:cNvGrpSpPr>
            <a:grpSpLocks noGrp="1" noUngrp="1" noRot="1" noMove="1" noResize="1"/>
          </p:cNvGrpSpPr>
          <p:nvPr/>
        </p:nvGrpSpPr>
        <p:grpSpPr>
          <a:xfrm>
            <a:off x="15803033" y="4765039"/>
            <a:ext cx="7112001" cy="1828801"/>
            <a:chOff x="0" y="0"/>
            <a:chExt cx="7112000" cy="1828800"/>
          </a:xfrm>
        </p:grpSpPr>
        <p:sp>
          <p:nvSpPr>
            <p:cNvPr id="356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One push, all users</a:t>
              </a:r>
            </a:p>
          </p:txBody>
        </p:sp>
        <p:sp>
          <p:nvSpPr>
            <p:cNvPr id="355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A merged PR propagates immediately across</a:t>
              </a:r>
            </a:p>
            <a:p>
              <a:pPr>
                <a:defRPr sz="2800"/>
              </a:pPr>
              <a:r>
                <a:t>the entire company via auto-update.</a:t>
              </a:r>
            </a:p>
          </p:txBody>
        </p:sp>
      </p:grpSp>
      <p:grpSp>
        <p:nvGrpSpPr>
          <p:cNvPr id="360" name="Group"/>
          <p:cNvGrpSpPr>
            <a:grpSpLocks noGrp="1" noUngrp="1" noRot="1" noMove="1" noResize="1"/>
          </p:cNvGrpSpPr>
          <p:nvPr/>
        </p:nvGrpSpPr>
        <p:grpSpPr>
          <a:xfrm>
            <a:off x="15803033" y="7122159"/>
            <a:ext cx="7112001" cy="1828801"/>
            <a:chOff x="0" y="0"/>
            <a:chExt cx="7112000" cy="1828799"/>
          </a:xfrm>
        </p:grpSpPr>
        <p:sp>
          <p:nvSpPr>
            <p:cNvPr id="35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Review and governance</a:t>
              </a:r>
            </a:p>
          </p:txBody>
        </p:sp>
        <p:sp>
          <p:nvSpPr>
            <p:cNvPr id="358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Branch protection keeps quality high.</a:t>
              </a:r>
            </a:p>
            <a:p>
              <a:pPr>
                <a:defRPr sz="2800"/>
              </a:pPr>
              <a:r>
                <a:t>No skill ships without a passing review.</a:t>
              </a:r>
            </a:p>
          </p:txBody>
        </p:sp>
      </p:grp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1" y="1064683"/>
            <a:ext cx="10972800" cy="916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/>
              <a:t>The Challenge</a:t>
            </a:r>
          </a:p>
        </p:txBody>
      </p:sp>
      <p:grpSp>
        <p:nvGrpSpPr>
          <p:cNvPr id="365" name="Group"/>
          <p:cNvGrpSpPr>
            <a:grpSpLocks noGrp="1" noUngrp="1" noRot="1" noMove="1" noResize="1"/>
          </p:cNvGrpSpPr>
          <p:nvPr/>
        </p:nvGrpSpPr>
        <p:grpSpPr>
          <a:xfrm>
            <a:off x="1071032" y="5694679"/>
            <a:ext cx="6858001" cy="2834641"/>
            <a:chOff x="0" y="0"/>
            <a:chExt cx="6858000" cy="2834639"/>
          </a:xfrm>
        </p:grpSpPr>
        <p:sp>
          <p:nvSpPr>
            <p:cNvPr id="364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Inconsistent Versions</a:t>
              </a:r>
            </a:p>
          </p:txBody>
        </p:sp>
        <p:sp>
          <p:nvSpPr>
            <p:cNvPr id="363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6858000" cy="217170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Different team members run different skill versions, causing unpredictable outputs and confusion.</a:t>
              </a:r>
            </a:p>
          </p:txBody>
        </p:sp>
      </p:grpSp>
      <p:grpSp>
        <p:nvGrpSpPr>
          <p:cNvPr id="368" name="Group"/>
          <p:cNvGrpSpPr>
            <a:grpSpLocks noGrp="1" noUngrp="1" noRot="1" noMove="1" noResize="1"/>
          </p:cNvGrpSpPr>
          <p:nvPr/>
        </p:nvGrpSpPr>
        <p:grpSpPr>
          <a:xfrm>
            <a:off x="8437033" y="5694679"/>
            <a:ext cx="6858001" cy="2834641"/>
            <a:chOff x="0" y="0"/>
            <a:chExt cx="6858000" cy="2834639"/>
          </a:xfrm>
        </p:grpSpPr>
        <p:sp>
          <p:nvSpPr>
            <p:cNvPr id="367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/>
                <a:t>Manual Distribution</a:t>
              </a:r>
            </a:p>
          </p:txBody>
        </p:sp>
        <p:sp>
          <p:nvSpPr>
            <p:cNvPr id="366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6858000" cy="217170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/>
                <a:t>Every update means re-sending files, Slack messages, and hoping everyone actually applies them.</a:t>
              </a:r>
            </a:p>
          </p:txBody>
        </p:sp>
      </p:grpSp>
      <p:grpSp>
        <p:nvGrpSpPr>
          <p:cNvPr id="371" name="Group"/>
          <p:cNvGrpSpPr>
            <a:grpSpLocks noGrp="1" noUngrp="1" noRot="1" noMove="1" noResize="1"/>
          </p:cNvGrpSpPr>
          <p:nvPr/>
        </p:nvGrpSpPr>
        <p:grpSpPr>
          <a:xfrm>
            <a:off x="15803031" y="5694678"/>
            <a:ext cx="6894576" cy="3447740"/>
            <a:chOff x="-1" y="-1"/>
            <a:chExt cx="6894575" cy="3447739"/>
          </a:xfrm>
        </p:grpSpPr>
        <p:sp>
          <p:nvSpPr>
            <p:cNvPr id="370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No Source of Truth</a:t>
              </a:r>
            </a:p>
          </p:txBody>
        </p:sp>
        <p:sp>
          <p:nvSpPr>
            <p:cNvPr id="36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" y="662940"/>
              <a:ext cx="6894575" cy="2784798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/>
                <a:t>Hard to know which skill is authoritative, who owns it, or when it was last changed.</a:t>
              </a:r>
            </a:p>
          </p:txBody>
        </p:sp>
      </p:grp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7000" y="9748006"/>
            <a:ext cx="11378608" cy="1297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lnSpc>
                <a:spcPct val="100000"/>
              </a:lnSpc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Sora Regular"/>
              </a:defRPr>
            </a:lvl1pPr>
          </a:lstStyle>
          <a:p>
            <a:r>
              <a:rPr lang="da-DK" dirty="0"/>
              <a:t xml:space="preserve">Skills that ship </a:t>
            </a:r>
            <a:r>
              <a:rPr lang="da-DK" dirty="0" err="1"/>
              <a:t>like software.</a:t>
            </a:r>
            <a:endParaRPr dirty="0"/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kstfelt 1"/>
          <p:cNvSpPr txBox="1"/>
          <p:nvPr/>
        </p:nvSpPr>
        <p:spPr>
          <a:xfrm>
            <a:off x="1071032" y="6399530"/>
            <a:ext cx="7620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t>GitHub Sync</a:t>
            </a:r>
          </a:p>
        </p:txBody>
      </p:sp>
      <p:grpSp>
        <p:nvGrpSpPr>
          <p:cNvPr id="344" name="Group"/>
          <p:cNvGrpSpPr/>
          <p:nvPr/>
        </p:nvGrpSpPr>
        <p:grpSpPr>
          <a:xfrm>
            <a:off x="11231033" y="2852419"/>
            <a:ext cx="10922001" cy="2331722"/>
            <a:chOff x="0" y="0"/>
            <a:chExt cx="10922000" cy="2331720"/>
          </a:xfrm>
        </p:grpSpPr>
        <p:sp>
          <p:nvSpPr>
            <p:cNvPr id="342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Multiple people can create and review skills via pull requests.</a:t>
              </a:r>
            </a:p>
            <a:p>
              <a:pPr>
                <a:defRPr sz="2800"/>
              </a:pPr>
              <a:r>
                <a:t>Changes are tracked, versioned, and revertible.</a:t>
              </a:r>
            </a:p>
          </p:txBody>
        </p:sp>
        <p:sp>
          <p:nvSpPr>
            <p:cNvPr id="343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PR-based authoring</a:t>
              </a:r>
            </a:p>
          </p:txBody>
        </p:sp>
      </p:grpSp>
      <p:grpSp>
        <p:nvGrpSpPr>
          <p:cNvPr id="347" name="Group"/>
          <p:cNvGrpSpPr/>
          <p:nvPr/>
        </p:nvGrpSpPr>
        <p:grpSpPr>
          <a:xfrm>
            <a:off x="11231033" y="5692139"/>
            <a:ext cx="10922001" cy="2331722"/>
            <a:chOff x="0" y="0"/>
            <a:chExt cx="10922000" cy="2331720"/>
          </a:xfrm>
        </p:grpSpPr>
        <p:sp>
          <p:nvSpPr>
            <p:cNvPr id="345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Multiple people can create and improve skills via pull requests.</a:t>
              </a:r>
            </a:p>
            <a:p>
              <a:pPr>
                <a:defRPr sz="2800"/>
              </a:pPr>
              <a:r>
                <a:t>Changes are reviewed before they ship — no unreviewed edits.</a:t>
              </a:r>
            </a:p>
            <a:p>
              <a:pPr>
                <a:defRPr sz="2800"/>
              </a:pPr>
              <a:r>
                <a:t/>
              </a:r>
            </a:p>
          </p:txBody>
        </p:sp>
        <p:sp>
          <p:nvSpPr>
            <p:cNvPr id="346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Version control and rollback</a:t>
              </a:r>
            </a:p>
          </p:txBody>
        </p:sp>
      </p:grpSp>
      <p:grpSp>
        <p:nvGrpSpPr>
          <p:cNvPr id="350" name="Group"/>
          <p:cNvGrpSpPr/>
          <p:nvPr/>
        </p:nvGrpSpPr>
        <p:grpSpPr>
          <a:xfrm>
            <a:off x="11231033" y="8531859"/>
            <a:ext cx="10922001" cy="2331722"/>
            <a:chOff x="0" y="0"/>
            <a:chExt cx="10922000" cy="2331720"/>
          </a:xfrm>
        </p:grpSpPr>
        <p:sp>
          <p:nvSpPr>
            <p:cNvPr id="348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Every change is tracked in git. Mistakes are revertible. Full audit trail included.</a:t>
              </a:r>
            </a:p>
          </p:txBody>
        </p:sp>
        <p:sp>
          <p:nvSpPr>
            <p:cNvPr id="349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Always the recommended approach</a:t>
              </a:r>
            </a:p>
          </p:txBody>
        </p:sp>
      </p:grp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kstfelt 1"/>
          <p:cNvSpPr txBox="1"/>
          <p:nvPr/>
        </p:nvSpPr>
        <p:spPr>
          <a:xfrm>
            <a:off x="1071032" y="6399530"/>
            <a:ext cx="7620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t>Auto-Updates</a:t>
            </a:r>
          </a:p>
        </p:txBody>
      </p:sp>
      <p:grpSp>
        <p:nvGrpSpPr>
          <p:cNvPr id="344" name="Group"/>
          <p:cNvGrpSpPr/>
          <p:nvPr/>
        </p:nvGrpSpPr>
        <p:grpSpPr>
          <a:xfrm>
            <a:off x="11231033" y="2852419"/>
            <a:ext cx="10922001" cy="2331722"/>
            <a:chOff x="0" y="0"/>
            <a:chExt cx="10922000" cy="2331720"/>
          </a:xfrm>
        </p:grpSpPr>
        <p:sp>
          <p:nvSpPr>
            <p:cNvPr id="342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Push to the repo — every user gets the update</a:t>
              </a:r>
            </a:p>
            <a:p>
              <a:pPr>
                <a:defRPr sz="2800"/>
              </a:pPr>
              <a:r>
                <a:t>the next time they open a session or refresh plugins.</a:t>
              </a:r>
            </a:p>
          </p:txBody>
        </p:sp>
        <p:sp>
          <p:nvSpPr>
            <p:cNvPr id="343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Triggered on session open</a:t>
              </a:r>
            </a:p>
          </p:txBody>
        </p:sp>
      </p:grpSp>
      <p:grpSp>
        <p:nvGrpSpPr>
          <p:cNvPr id="347" name="Group"/>
          <p:cNvGrpSpPr/>
          <p:nvPr/>
        </p:nvGrpSpPr>
        <p:grpSpPr>
          <a:xfrm>
            <a:off x="11231033" y="5692139"/>
            <a:ext cx="10922001" cy="2331722"/>
            <a:chOff x="0" y="0"/>
            <a:chExt cx="10922000" cy="2331720"/>
          </a:xfrm>
        </p:grpSpPr>
        <p:sp>
          <p:nvSpPr>
            <p:cNvPr id="345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When a user opens Claude, plugins refresh automatically.</a:t>
              </a:r>
            </a:p>
            <a:p>
              <a:pPr>
                <a:defRPr sz="2800"/>
              </a:pPr>
              <a:r>
                <a:t>The latest skill version is loaded — no manual steps needed.</a:t>
              </a:r>
            </a:p>
            <a:p>
              <a:pPr>
                <a:defRPr sz="2800"/>
              </a:pPr>
              <a:r>
                <a:t/>
              </a:r>
            </a:p>
          </p:txBody>
        </p:sp>
        <p:sp>
          <p:nvSpPr>
            <p:cNvPr id="346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Triggered on manual refresh</a:t>
              </a:r>
            </a:p>
          </p:txBody>
        </p:sp>
      </p:grpSp>
      <p:grpSp>
        <p:nvGrpSpPr>
          <p:cNvPr id="350" name="Group"/>
          <p:cNvGrpSpPr/>
          <p:nvPr/>
        </p:nvGrpSpPr>
        <p:grpSpPr>
          <a:xfrm>
            <a:off x="11231033" y="8531859"/>
            <a:ext cx="10922001" cy="2331722"/>
            <a:chOff x="0" y="0"/>
            <a:chExt cx="10922000" cy="2331720"/>
          </a:xfrm>
        </p:grpSpPr>
        <p:sp>
          <p:nvSpPr>
            <p:cNvPr id="348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Users can click Refresh Plugins at any time. Update applies immediately without restarting.</a:t>
              </a:r>
            </a:p>
          </p:txBody>
        </p:sp>
        <p:sp>
          <p:nvSpPr>
            <p:cNvPr id="349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Zero maintenance after setup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ChronosHub Presentation Template (Winter 2025) (1)" id="{E67A45DE-25F8-4FFD-ADBA-DB8881810518}" vid="{10745965-B957-468A-9E6D-06F34891360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7B9DAA5485C4884DAC9AE6BD4FCCC" ma:contentTypeVersion="3" ma:contentTypeDescription="Create a new document." ma:contentTypeScope="" ma:versionID="bca1ed1051fbfc5da15ba8a56e99e615">
  <xsd:schema xmlns:xsd="http://www.w3.org/2001/XMLSchema" xmlns:xs="http://www.w3.org/2001/XMLSchema" xmlns:p="http://schemas.microsoft.com/office/2006/metadata/properties" xmlns:ns2="79387a8e-e5e3-4476-871a-055310360781" targetNamespace="http://schemas.microsoft.com/office/2006/metadata/properties" ma:root="true" ma:fieldsID="498d2e5b4be761b71e0300f23ce5f56a" ns2:_="">
    <xsd:import namespace="79387a8e-e5e3-4476-871a-0553103607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87a8e-e5e3-4476-871a-0553103607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333226-39CA-44B8-88AE-9DF85F50FC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AD54ED-EC74-48B5-8AED-4049FD0EA76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2F3DE-8852-41A0-9C2A-657A84E861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387a8e-e5e3-4476-871a-0553103607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1586</TotalTime>
  <Words>2262</Words>
  <Application>Microsoft Office PowerPoint</Application>
  <PresentationFormat>Custom</PresentationFormat>
  <Paragraphs>368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0" baseType="lpstr">
      <vt:lpstr>Helvetica Neue</vt:lpstr>
      <vt:lpstr>Public Sans</vt:lpstr>
      <vt:lpstr>Public Sans Black</vt:lpstr>
      <vt:lpstr>Public Sans Regular</vt:lpstr>
      <vt:lpstr>Public Sans Thin Bold</vt:lpstr>
      <vt:lpstr>Sora</vt:lpstr>
      <vt:lpstr>Sora Bold</vt:lpstr>
      <vt:lpstr>Sora ExtraLight</vt:lpstr>
      <vt:lpstr>Sora Light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Balder Tore Jacobsen</cp:lastModifiedBy>
  <cp:revision>88</cp:revision>
  <dcterms:modified xsi:type="dcterms:W3CDTF">2025-12-17T15:15:42Z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0x010100D7E7B9DAA5485C4884DAC9AE6BD4FCCC</vt:lpwstr>
  </property>
</Properties>
</file>