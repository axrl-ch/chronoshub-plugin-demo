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326" r:id="rId5"/>
    <p:sldId id="277" r:id="rId6"/>
    <p:sldId id="289" r:id="rId7"/>
    <p:sldId id="335" r:id="rId8"/>
    <p:sldId id="329" r:id="rId9"/>
    <p:sldId id="290" r:id="rId10"/>
    <p:sldId id="334" r:id="rId11"/>
    <p:sldId id="315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1pPr>
    <a:lvl2pPr marL="0" marR="0" indent="457117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2pPr>
    <a:lvl3pPr marL="0" marR="0" indent="914234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3pPr>
    <a:lvl4pPr marL="0" marR="0" indent="1371353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4pPr>
    <a:lvl5pPr marL="0" marR="0" indent="182846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5pPr>
    <a:lvl6pPr marL="0" marR="0" indent="2285588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6pPr>
    <a:lvl7pPr marL="0" marR="0" indent="2742705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7pPr>
    <a:lvl8pPr marL="0" marR="0" indent="3199822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8pPr>
    <a:lvl9pPr marL="0" marR="0" indent="3656939" algn="l" defTabSz="3048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ublic Sans Regular"/>
        <a:ea typeface="Public Sans Regular"/>
        <a:cs typeface="Public Sans Regular"/>
        <a:sym typeface="Public Sans Regular"/>
      </a:defRPr>
    </a:lvl9pPr>
  </p:defaultTextStyle>
  <p:extLst>
    <p:ext uri="{521415D9-36F7-43E2-AB2F-B90AF26B5E84}">
      <p14:sectionLst xmlns:p14="http://schemas.microsoft.com/office/powerpoint/2010/main">
        <p14:section name="Working slides" id="{12A10655-B00F-B546-A5E0-09060B06241C}">
          <p14:sldIdLst>
            <p14:sldId id="326"/>
          </p14:sldIdLst>
        </p14:section>
        <p14:section name="Template slides" id="{C75A84C8-6633-A54D-AE16-BAD1FC83A9AC}">
          <p14:sldIdLst>
            <p14:sldId id="277"/>
            <p14:sldId id="289"/>
            <p14:sldId id="335"/>
            <p14:sldId id="329"/>
            <p14:sldId id="290"/>
            <p14:sldId id="334"/>
            <p14:sldId id="315"/>
          </p14:sldIdLst>
        </p14:section>
        <p14:section name="Tokens and assets" id="{18096EAF-35E0-1147-9A8A-5507082F7FB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6"/>
    <p:restoredTop sz="94752"/>
  </p:normalViewPr>
  <p:slideViewPr>
    <p:cSldViewPr>
      <p:cViewPr varScale="1">
        <p:scale>
          <a:sx n="52" d="100"/>
          <a:sy n="52" d="100"/>
        </p:scale>
        <p:origin x="528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169" d="100"/>
          <a:sy n="169" d="100"/>
        </p:scale>
        <p:origin x="8624" y="2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nk (With ChronosHub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Black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Marine Accent (With ChronosHub Lo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- Violet Accent (With ChronosHub Logo) copy 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pen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608" userDrawn="1">
          <p15:clr>
            <a:srgbClr val="FBAE40"/>
          </p15:clr>
        </p15:guide>
        <p15:guide id="2" orient="horz" pos="5664" userDrawn="1">
          <p15:clr>
            <a:srgbClr val="FBAE40"/>
          </p15:clr>
        </p15:guide>
        <p15:guide id="3" pos="8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ndigo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Marine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Violet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(Ivory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Full_Color.pdf" descr="Full_Col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34800"/>
            <a:ext cx="3793067" cy="575283"/>
          </a:xfrm>
          <a:prstGeom prst="rect">
            <a:avLst/>
          </a:prstGeom>
          <a:ln w="3175">
            <a:miter lim="400000"/>
          </a:ln>
        </p:spPr>
      </p:pic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_Color.pdf" descr="Full_Color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0" y="508000"/>
            <a:ext cx="2032000" cy="308187"/>
          </a:xfrm>
          <a:prstGeom prst="rect">
            <a:avLst/>
          </a:prstGeom>
          <a:ln w="3175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19199" y="184149"/>
            <a:ext cx="21945601" cy="301625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199" y="3200399"/>
            <a:ext cx="21945601" cy="1051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036938" y="12720956"/>
            <a:ext cx="670663" cy="713741"/>
          </a:xfrm>
          <a:prstGeom prst="rect">
            <a:avLst/>
          </a:prstGeom>
          <a:ln w="3175">
            <a:miter lim="400000"/>
          </a:ln>
        </p:spPr>
        <p:txBody>
          <a:bodyPr wrap="none" lIns="121919" tIns="121919" rIns="121919" bIns="121919" anchor="ctr">
            <a:spAutoFit/>
          </a:bodyPr>
          <a:lstStyle>
            <a:lvl1pPr algn="r">
              <a:defRPr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0" marR="0" indent="0" algn="l" defTabSz="1828741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titleStyle>
    <p:bodyStyle>
      <a:lvl1pPr marL="424528" marR="0" indent="-424528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1pPr>
      <a:lvl2pPr marL="838171" marR="0" indent="-495282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2pPr>
      <a:lvl3pPr marL="1280117" marR="0" indent="-594339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3pPr>
      <a:lvl4pPr marL="1714443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4pPr>
      <a:lvl5pPr marL="2057331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5pPr>
      <a:lvl6pPr marL="2400220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6pPr>
      <a:lvl7pPr marL="274310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7pPr>
      <a:lvl8pPr marL="3085999" marR="0" indent="-685775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8pPr>
      <a:lvl9pPr marL="3428887" marR="0" indent="-685776" algn="l" defTabSz="1828741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 typeface="Public Sans Regular"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Public Sans Regular"/>
          <a:ea typeface="Public Sans Regular"/>
          <a:cs typeface="Public Sans Regular"/>
          <a:sym typeface="Public Sans Regular"/>
        </a:defRPr>
      </a:lvl9pPr>
    </p:bodyStyle>
    <p:otherStyle>
      <a:lvl1pPr marL="0" marR="0" indent="0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1pPr>
      <a:lvl2pPr marL="0" marR="0" indent="457117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2pPr>
      <a:lvl3pPr marL="0" marR="0" indent="914234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3pPr>
      <a:lvl4pPr marL="0" marR="0" indent="1371353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4pPr>
      <a:lvl5pPr marL="0" marR="0" indent="182846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5pPr>
      <a:lvl6pPr marL="0" marR="0" indent="2285588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6pPr>
      <a:lvl7pPr marL="0" marR="0" indent="2742705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7pPr>
      <a:lvl8pPr marL="0" marR="0" indent="3199822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8pPr>
      <a:lvl9pPr marL="0" marR="0" indent="3656939" algn="r" defTabSz="3048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ublic Sans Regul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FE32-3FEF-61B4-1637-A8477E1D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ull_Color.pdf" descr="Full_Color.pdf">
            <a:extLst>
              <a:ext uri="{FF2B5EF4-FFF2-40B4-BE49-F238E27FC236}">
                <a16:creationId xmlns:a16="http://schemas.microsoft.com/office/drawing/2014/main" id="{C92DB291-9A3F-16AC-2551-CA14F5E205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542192"/>
            <a:ext cx="5080000" cy="770469"/>
          </a:xfrm>
          <a:prstGeom prst="rect">
            <a:avLst/>
          </a:prstGeom>
          <a:ln w="3175">
            <a:miter lim="400000"/>
          </a:ln>
        </p:spPr>
      </p:pic>
      <p:sp>
        <p:nvSpPr>
          <p:cNvPr id="119" name="Text">
            <a:extLst>
              <a:ext uri="{FF2B5EF4-FFF2-40B4-BE49-F238E27FC236}">
                <a16:creationId xmlns:a16="http://schemas.microsoft.com/office/drawing/2014/main" id="{D7437C5D-B81F-6857-53B3-1849F864A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7825" y="7820660"/>
            <a:ext cx="18288000" cy="345270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b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"/>
                <a:ea typeface="Sora"/>
                <a:cs typeface="Sora"/>
                <a:sym typeface="Sora Medium"/>
              </a:defRPr>
            </a:pPr>
            <a:r>
              <a:rPr lang="da-DK" dirty="0"/>
              <a:t>ChronosHub PPTX Skill</a:t>
            </a:r>
            <a:endParaRPr dirty="0"/>
          </a:p>
          <a:p>
            <a:pPr>
              <a:lnSpc>
                <a:spcPct val="100000"/>
              </a:lnSpc>
              <a:spcBef>
                <a:spcPts val="1000"/>
              </a:spcBef>
              <a:defRPr sz="9600">
                <a:solidFill>
                  <a:srgbClr val="FFFFFF"/>
                </a:solidFill>
                <a:latin typeface="Sora Light"/>
                <a:ea typeface="Sora Light"/>
                <a:cs typeface="Sora Light"/>
                <a:sym typeface="Sora Light"/>
              </a:defRPr>
            </a:pPr>
            <a:r>
              <a:rPr lang="da-DK" dirty="0"/>
              <a:t>Review Notes</a:t>
            </a:r>
            <a:endParaRPr dirty="0"/>
          </a:p>
        </p:txBody>
      </p:sp>
      <p:sp>
        <p:nvSpPr>
          <p:cNvPr id="117" name="Text">
            <a:extLst>
              <a:ext uri="{FF2B5EF4-FFF2-40B4-BE49-F238E27FC236}">
                <a16:creationId xmlns:a16="http://schemas.microsoft.com/office/drawing/2014/main" id="{F5CD03A2-3241-A628-B369-5327DB32B0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3800" y="11915114"/>
            <a:ext cx="11378608" cy="7268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7000" tIns="127000" rIns="127000" bIns="127000" anchor="b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lang="da-DK" dirty="0"/>
              <a:t>26</a:t>
            </a:r>
            <a:r>
              <a:rPr dirty="0"/>
              <a:t>-</a:t>
            </a:r>
            <a:r>
              <a:rPr lang="da-DK" dirty="0"/>
              <a:t>06</a:t>
            </a:r>
            <a:r>
              <a:rPr dirty="0"/>
              <a:t>-</a:t>
            </a:r>
            <a:r>
              <a:rPr lang="da-DK" dirty="0"/>
              <a:t>15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43698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Curve Insert (Marine-Indigo).svg" descr="Curve Insert (Marine-Indigo).sv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36111"/>
          <a:stretch>
            <a:fillRect/>
          </a:stretch>
        </p:blipFill>
        <p:spPr>
          <a:xfrm>
            <a:off x="8805333" y="-1"/>
            <a:ext cx="15578668" cy="13716001"/>
          </a:xfrm>
          <a:prstGeom prst="rect">
            <a:avLst/>
          </a:prstGeom>
          <a:ln w="3175">
            <a:miter lim="400000"/>
          </a:ln>
        </p:spPr>
      </p:pic>
      <p:pic>
        <p:nvPicPr>
          <p:cNvPr id="280" name="Full_Color.pdf" descr="Full_Color.pdf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0" y="503766"/>
            <a:ext cx="2032000" cy="308188"/>
          </a:xfrm>
          <a:prstGeom prst="rect">
            <a:avLst/>
          </a:prstGeom>
          <a:ln w="3175">
            <a:miter lim="400000"/>
          </a:ln>
        </p:spPr>
      </p:pic>
      <p:sp>
        <p:nvSpPr>
          <p:cNvPr id="281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04280"/>
            <a:ext cx="6583680" cy="11074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5400">
                <a:latin typeface="Sora Light"/>
                <a:ea typeface="Sora Light"/>
                <a:cs typeface="Sora Light"/>
                <a:sym typeface="Sora Light"/>
              </a:defRPr>
            </a:lvl1pPr>
          </a:lstStyle>
          <a:p>
            <a:r>
              <a:rPr dirty="0"/>
              <a:t>Skill Distribution</a:t>
            </a:r>
          </a:p>
        </p:txBody>
      </p:sp>
      <p:sp>
        <p:nvSpPr>
          <p:cNvPr id="28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14600" y="6219189"/>
            <a:ext cx="10160001" cy="127762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How do we manage and update skills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across the company without too much hassle?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99530"/>
            <a:ext cx="5842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t>Solutions</a:t>
            </a:r>
          </a:p>
        </p:txBody>
      </p:sp>
      <p:grpSp>
        <p:nvGrpSpPr>
          <p:cNvPr id="351" name="Group"/>
          <p:cNvGrpSpPr>
            <a:grpSpLocks noGrp="1" noUngrp="1" noRot="1" noMove="1" noResize="1"/>
          </p:cNvGrpSpPr>
          <p:nvPr/>
        </p:nvGrpSpPr>
        <p:grpSpPr>
          <a:xfrm>
            <a:off x="8183033" y="4765040"/>
            <a:ext cx="7112001" cy="1828800"/>
            <a:chOff x="0" y="0"/>
            <a:chExt cx="7112000" cy="1828799"/>
          </a:xfrm>
        </p:grpSpPr>
        <p:sp>
          <p:nvSpPr>
            <p:cNvPr id="350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Plugin Marketplace</a:t>
              </a:r>
            </a:p>
          </p:txBody>
        </p:sp>
        <p:sp>
          <p:nvSpPr>
            <p:cNvPr id="34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Publish auto-install or required plugins for mandatory skills to the company's Claude plugin marketplace.</a:t>
              </a:r>
            </a:p>
          </p:txBody>
        </p:sp>
      </p:grpSp>
      <p:grpSp>
        <p:nvGrpSpPr>
          <p:cNvPr id="354" name="Group"/>
          <p:cNvGrpSpPr>
            <a:grpSpLocks noGrp="1" noUngrp="1" noRot="1" noMove="1" noResize="1"/>
          </p:cNvGrpSpPr>
          <p:nvPr/>
        </p:nvGrpSpPr>
        <p:grpSpPr>
          <a:xfrm>
            <a:off x="8183033" y="7122159"/>
            <a:ext cx="7112001" cy="1828801"/>
            <a:chOff x="0" y="0"/>
            <a:chExt cx="7112000" cy="1828799"/>
          </a:xfrm>
        </p:grpSpPr>
        <p:sp>
          <p:nvSpPr>
            <p:cNvPr id="353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GitHub Sync</a:t>
              </a:r>
            </a:p>
          </p:txBody>
        </p:sp>
        <p:sp>
          <p:nvSpPr>
            <p:cNvPr id="352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Sync the marketplace with a GitHub repo so multiple people</a:t>
              </a:r>
            </a:p>
            <a:p>
              <a:pPr>
                <a:defRPr sz="2800"/>
              </a:pPr>
              <a:r>
                <a:t>can manage and update plugins via familiar git workflows.</a:t>
              </a:r>
            </a:p>
          </p:txBody>
        </p:sp>
      </p:grpSp>
      <p:grpSp>
        <p:nvGrpSpPr>
          <p:cNvPr id="357" name="Group"/>
          <p:cNvGrpSpPr>
            <a:grpSpLocks noGrp="1" noUngrp="1" noRot="1" noMove="1" noResize="1"/>
          </p:cNvGrpSpPr>
          <p:nvPr/>
        </p:nvGrpSpPr>
        <p:grpSpPr>
          <a:xfrm>
            <a:off x="15803033" y="4765039"/>
            <a:ext cx="7112001" cy="1828801"/>
            <a:chOff x="0" y="0"/>
            <a:chExt cx="7112000" cy="1828800"/>
          </a:xfrm>
        </p:grpSpPr>
        <p:sp>
          <p:nvSpPr>
            <p:cNvPr id="356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Auto-Update on Push</a:t>
              </a:r>
            </a:p>
          </p:txBody>
        </p:sp>
        <p:sp>
          <p:nvSpPr>
            <p:cNvPr id="355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Enable the setting to automatically update plugins</a:t>
              </a:r>
            </a:p>
            <a:p>
              <a:pPr>
                <a:defRPr sz="2800"/>
              </a:pPr>
              <a:r>
                <a:t>when a commit is pushed to the repo.</a:t>
              </a:r>
            </a:p>
          </p:txBody>
        </p:sp>
      </p:grpSp>
      <p:grpSp>
        <p:nvGrpSpPr>
          <p:cNvPr id="360" name="Group"/>
          <p:cNvGrpSpPr>
            <a:grpSpLocks noGrp="1" noUngrp="1" noRot="1" noMove="1" noResize="1"/>
          </p:cNvGrpSpPr>
          <p:nvPr/>
        </p:nvGrpSpPr>
        <p:grpSpPr>
          <a:xfrm>
            <a:off x="15803033" y="7122159"/>
            <a:ext cx="7112001" cy="1828801"/>
            <a:chOff x="0" y="0"/>
            <a:chExt cx="7112000" cy="1828799"/>
          </a:xfrm>
        </p:grpSpPr>
        <p:sp>
          <p:nvSpPr>
            <p:cNvPr id="35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711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Team-Wide Updates</a:t>
              </a:r>
            </a:p>
          </p:txBody>
        </p:sp>
        <p:sp>
          <p:nvSpPr>
            <p:cNvPr id="358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7112000" cy="116586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Plugins auto-update for everyone when a new session</a:t>
              </a:r>
            </a:p>
            <a:p>
              <a:pPr>
                <a:defRPr sz="2800"/>
              </a:pPr>
              <a:r>
                <a:t>is opened or plugins are manually refreshed.</a:t>
              </a:r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2BAF-DF9F-2FCB-C33F-8D7D5AE5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Curve Insert (Marine-Indigo).svg" descr="Curve Insert (Marine-Indigo).svg">
            <a:extLst>
              <a:ext uri="{FF2B5EF4-FFF2-40B4-BE49-F238E27FC236}">
                <a16:creationId xmlns:a16="http://schemas.microsoft.com/office/drawing/2014/main" id="{4C23F803-45C9-D24D-AD20-001910FCC7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36111"/>
          <a:stretch>
            <a:fillRect/>
          </a:stretch>
        </p:blipFill>
        <p:spPr>
          <a:xfrm>
            <a:off x="8805333" y="-1"/>
            <a:ext cx="15578668" cy="13716001"/>
          </a:xfrm>
          <a:prstGeom prst="rect">
            <a:avLst/>
          </a:prstGeom>
          <a:ln w="3175">
            <a:miter lim="400000"/>
          </a:ln>
        </p:spPr>
      </p:pic>
      <p:pic>
        <p:nvPicPr>
          <p:cNvPr id="280" name="Full_Color.pdf" descr="Full_Color.pdf">
            <a:extLst>
              <a:ext uri="{FF2B5EF4-FFF2-40B4-BE49-F238E27FC236}">
                <a16:creationId xmlns:a16="http://schemas.microsoft.com/office/drawing/2014/main" id="{7236CE30-C282-8A4C-B090-EE809D9059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0" y="503766"/>
            <a:ext cx="2032000" cy="308188"/>
          </a:xfrm>
          <a:prstGeom prst="rect">
            <a:avLst/>
          </a:prstGeom>
          <a:ln w="3175">
            <a:miter lim="400000"/>
          </a:ln>
        </p:spPr>
      </p:pic>
      <p:sp>
        <p:nvSpPr>
          <p:cNvPr id="281" name="Text">
            <a:extLst>
              <a:ext uri="{FF2B5EF4-FFF2-40B4-BE49-F238E27FC236}">
                <a16:creationId xmlns:a16="http://schemas.microsoft.com/office/drawing/2014/main" id="{8092E7D9-C44F-1B5E-F32C-37AF5EAFF0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2" y="6304280"/>
            <a:ext cx="6583680" cy="11074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5400">
                <a:latin typeface="Sora Light"/>
                <a:ea typeface="Sora Light"/>
                <a:cs typeface="Sora Light"/>
                <a:sym typeface="Sora Light"/>
              </a:defRPr>
            </a:lvl1pPr>
          </a:lstStyle>
          <a:p>
            <a:r>
              <a:rPr dirty="0"/>
              <a:t>Skill </a:t>
            </a:r>
            <a:r>
              <a:rPr lang="sv-SE" dirty="0" err="1"/>
              <a:t>Improvement</a:t>
            </a:r>
            <a:endParaRPr dirty="0"/>
          </a:p>
        </p:txBody>
      </p:sp>
      <p:sp>
        <p:nvSpPr>
          <p:cNvPr id="282" name="Text">
            <a:extLst>
              <a:ext uri="{FF2B5EF4-FFF2-40B4-BE49-F238E27FC236}">
                <a16:creationId xmlns:a16="http://schemas.microsoft.com/office/drawing/2014/main" id="{24314F2F-B4BE-A3A4-9601-6EDD710CF5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14600" y="5868180"/>
            <a:ext cx="10160001" cy="197964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sv-SE" dirty="0" err="1"/>
              <a:t>How</a:t>
            </a:r>
            <a:r>
              <a:rPr lang="sv-SE" dirty="0"/>
              <a:t> do </a:t>
            </a:r>
            <a:r>
              <a:rPr lang="sv-SE" dirty="0" err="1"/>
              <a:t>we</a:t>
            </a:r>
            <a:r>
              <a:rPr lang="sv-SE" dirty="0"/>
              <a:t> make sure the right </a:t>
            </a:r>
            <a:r>
              <a:rPr lang="sv-SE" dirty="0" err="1"/>
              <a:t>content</a:t>
            </a:r>
            <a:r>
              <a:rPr lang="sv-SE" dirty="0"/>
              <a:t> is </a:t>
            </a:r>
            <a:r>
              <a:rPr lang="sv-SE" dirty="0" err="1"/>
              <a:t>added</a:t>
            </a:r>
            <a:r>
              <a:rPr lang="sv-SE" dirty="0"/>
              <a:t> to the right </a:t>
            </a:r>
            <a:r>
              <a:rPr lang="sv-SE" dirty="0" err="1"/>
              <a:t>slide</a:t>
            </a:r>
            <a:r>
              <a:rPr lang="sv-SE" dirty="0"/>
              <a:t>? 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sv-SE" dirty="0"/>
              <a:t>+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improvements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59331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kstfelt 1"/>
          <p:cNvSpPr txBox="1"/>
          <p:nvPr/>
        </p:nvSpPr>
        <p:spPr>
          <a:xfrm>
            <a:off x="1071032" y="6399530"/>
            <a:ext cx="7620001" cy="9169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ctr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t>Proposed Fixes</a:t>
            </a:r>
          </a:p>
        </p:txBody>
      </p:sp>
      <p:grpSp>
        <p:nvGrpSpPr>
          <p:cNvPr id="344" name="Group"/>
          <p:cNvGrpSpPr/>
          <p:nvPr/>
        </p:nvGrpSpPr>
        <p:grpSpPr>
          <a:xfrm>
            <a:off x="11231033" y="2852419"/>
            <a:ext cx="10922001" cy="2331722"/>
            <a:chOff x="0" y="0"/>
            <a:chExt cx="10922000" cy="2331720"/>
          </a:xfrm>
        </p:grpSpPr>
        <p:sp>
          <p:nvSpPr>
            <p:cNvPr id="342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Step 2b now emphasizes template instructions and descriptions.</a:t>
              </a:r>
            </a:p>
            <a:p>
              <a:pPr>
                <a:defRPr sz="2800"/>
              </a:pPr>
              <a:r>
                <a:t>Step 4 notes: if the instructions don't fit the task, go back and choose a different template.</a:t>
              </a:r>
            </a:p>
          </p:txBody>
        </p:sp>
        <p:sp>
          <p:nvSpPr>
            <p:cNvPr id="343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Template Selection — Steps 2b &amp; 4</a:t>
              </a:r>
            </a:p>
          </p:txBody>
        </p:sp>
      </p:grpSp>
      <p:grpSp>
        <p:nvGrpSpPr>
          <p:cNvPr id="347" name="Group"/>
          <p:cNvGrpSpPr/>
          <p:nvPr/>
        </p:nvGrpSpPr>
        <p:grpSpPr>
          <a:xfrm>
            <a:off x="11231033" y="5692139"/>
            <a:ext cx="10922001" cy="2331722"/>
            <a:chOff x="0" y="0"/>
            <a:chExt cx="10922000" cy="2331720"/>
          </a:xfrm>
        </p:grpSpPr>
        <p:sp>
          <p:nvSpPr>
            <p:cNvPr id="345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/>
            <a:p>
              <a:pPr>
                <a:defRPr sz="2800"/>
              </a:pPr>
              <a:r>
                <a:t>Added a reminder to always capitalize at the start of a sentence</a:t>
              </a:r>
            </a:p>
            <a:p>
              <a:pPr>
                <a:defRPr sz="2800"/>
              </a:pPr>
              <a:r>
                <a:t>in Closing/Outro sections — a recurring issue</a:t>
              </a:r>
            </a:p>
            <a:p>
              <a:pPr>
                <a:defRPr sz="2800"/>
              </a:pPr>
              <a:r>
                <a:t>in generated decks.</a:t>
              </a:r>
            </a:p>
          </p:txBody>
        </p:sp>
        <p:sp>
          <p:nvSpPr>
            <p:cNvPr id="346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Closing / Outro Capitalization</a:t>
              </a:r>
            </a:p>
          </p:txBody>
        </p:sp>
      </p:grpSp>
      <p:grpSp>
        <p:nvGrpSpPr>
          <p:cNvPr id="350" name="Group"/>
          <p:cNvGrpSpPr/>
          <p:nvPr/>
        </p:nvGrpSpPr>
        <p:grpSpPr>
          <a:xfrm>
            <a:off x="11231033" y="8531859"/>
            <a:ext cx="10922001" cy="2331722"/>
            <a:chOff x="0" y="0"/>
            <a:chExt cx="10922000" cy="2331720"/>
          </a:xfrm>
        </p:grpSpPr>
        <p:sp>
          <p:nvSpPr>
            <p:cNvPr id="348" name="Tekstfelt 10"/>
            <p:cNvSpPr txBox="1"/>
            <p:nvPr/>
          </p:nvSpPr>
          <p:spPr>
            <a:xfrm>
              <a:off x="0" y="662939"/>
              <a:ext cx="10922000" cy="166878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Added a clause to avoid redundant content — topics used in one section should not reappear in another.</a:t>
              </a:r>
            </a:p>
          </p:txBody>
        </p:sp>
        <p:sp>
          <p:nvSpPr>
            <p:cNvPr id="349" name="Tekstfelt 10"/>
            <p:cNvSpPr txBox="1"/>
            <p:nvPr/>
          </p:nvSpPr>
          <p:spPr>
            <a:xfrm>
              <a:off x="0" y="-1"/>
              <a:ext cx="10922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Redundancy Check in Step 2b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1" y="1064683"/>
            <a:ext cx="10972800" cy="916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/>
              <a:t>Open Questions</a:t>
            </a:r>
          </a:p>
        </p:txBody>
      </p:sp>
      <p:grpSp>
        <p:nvGrpSpPr>
          <p:cNvPr id="365" name="Group"/>
          <p:cNvGrpSpPr>
            <a:grpSpLocks noGrp="1" noUngrp="1" noRot="1" noMove="1" noResize="1"/>
          </p:cNvGrpSpPr>
          <p:nvPr/>
        </p:nvGrpSpPr>
        <p:grpSpPr>
          <a:xfrm>
            <a:off x="1071032" y="5694679"/>
            <a:ext cx="6858001" cy="2834641"/>
            <a:chOff x="0" y="0"/>
            <a:chExt cx="6858000" cy="2834639"/>
          </a:xfrm>
        </p:grpSpPr>
        <p:sp>
          <p:nvSpPr>
            <p:cNvPr id="364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Presenters Slide</a:t>
              </a:r>
            </a:p>
          </p:txBody>
        </p:sp>
        <p:sp>
          <p:nvSpPr>
            <p:cNvPr id="363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6858000" cy="217170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/>
                <a:t>Is the presenters slide important enough to need more emphasis in the skill?</a:t>
              </a:r>
            </a:p>
          </p:txBody>
        </p:sp>
      </p:grpSp>
      <p:grpSp>
        <p:nvGrpSpPr>
          <p:cNvPr id="368" name="Group"/>
          <p:cNvGrpSpPr>
            <a:grpSpLocks noGrp="1" noUngrp="1" noRot="1" noMove="1" noResize="1"/>
          </p:cNvGrpSpPr>
          <p:nvPr/>
        </p:nvGrpSpPr>
        <p:grpSpPr>
          <a:xfrm>
            <a:off x="8437033" y="5694679"/>
            <a:ext cx="6858001" cy="2834641"/>
            <a:chOff x="0" y="0"/>
            <a:chExt cx="6858000" cy="2834639"/>
          </a:xfrm>
        </p:grpSpPr>
        <p:sp>
          <p:nvSpPr>
            <p:cNvPr id="367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/>
                <a:t>Body Text Size</a:t>
              </a:r>
            </a:p>
          </p:txBody>
        </p:sp>
        <p:sp>
          <p:nvSpPr>
            <p:cNvPr id="366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6858000" cy="217170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/>
                <a:t>Jess finds description text too small — should we increase default body font sizes across slide types?</a:t>
              </a:r>
            </a:p>
          </p:txBody>
        </p:sp>
      </p:grpSp>
      <p:grpSp>
        <p:nvGrpSpPr>
          <p:cNvPr id="371" name="Group"/>
          <p:cNvGrpSpPr>
            <a:grpSpLocks noGrp="1" noUngrp="1" noRot="1" noMove="1" noResize="1"/>
          </p:cNvGrpSpPr>
          <p:nvPr/>
        </p:nvGrpSpPr>
        <p:grpSpPr>
          <a:xfrm>
            <a:off x="15803031" y="5694678"/>
            <a:ext cx="6894576" cy="3447740"/>
            <a:chOff x="-1" y="-1"/>
            <a:chExt cx="6894575" cy="3447739"/>
          </a:xfrm>
        </p:grpSpPr>
        <p:sp>
          <p:nvSpPr>
            <p:cNvPr id="370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Color Consistency</a:t>
              </a:r>
            </a:p>
          </p:txBody>
        </p:sp>
        <p:sp>
          <p:nvSpPr>
            <p:cNvPr id="36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" y="662940"/>
              <a:ext cx="6894575" cy="2784798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/>
                <a:t>Should we enforce consistent color use? e.g. avoid mixing Indigo on the opener with Violet on content slides.</a:t>
              </a:r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1031" y="1064683"/>
            <a:ext cx="10972800" cy="916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>
            <a:spAutoFit/>
          </a:bodyPr>
          <a:lstStyle>
            <a:lvl1pPr>
              <a:lnSpc>
                <a:spcPct val="100000"/>
              </a:lnSpc>
              <a:defRPr sz="4200">
                <a:latin typeface="Sora Bold"/>
                <a:ea typeface="Sora Bold"/>
                <a:cs typeface="Sora Bold"/>
                <a:sym typeface="Sora Bold"/>
              </a:defRPr>
            </a:lvl1pPr>
          </a:lstStyle>
          <a:p>
            <a:r>
              <a:rPr dirty="0"/>
              <a:t>Open Questions</a:t>
            </a:r>
          </a:p>
        </p:txBody>
      </p:sp>
      <p:grpSp>
        <p:nvGrpSpPr>
          <p:cNvPr id="365" name="Group"/>
          <p:cNvGrpSpPr>
            <a:grpSpLocks noGrp="1" noUngrp="1" noRot="1" noMove="1" noResize="1"/>
          </p:cNvGrpSpPr>
          <p:nvPr/>
        </p:nvGrpSpPr>
        <p:grpSpPr>
          <a:xfrm>
            <a:off x="1071032" y="5694679"/>
            <a:ext cx="6858001" cy="2834641"/>
            <a:chOff x="0" y="0"/>
            <a:chExt cx="6858000" cy="2834639"/>
          </a:xfrm>
        </p:grpSpPr>
        <p:sp>
          <p:nvSpPr>
            <p:cNvPr id="364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Main Highlights Redundancy</a:t>
              </a:r>
            </a:p>
          </p:txBody>
        </p:sp>
        <p:sp>
          <p:nvSpPr>
            <p:cNvPr id="363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6858000" cy="217170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t>Can a topic used in one Main Highlights section reappear in another, or should the skill prevent this?</a:t>
              </a:r>
            </a:p>
          </p:txBody>
        </p:sp>
      </p:grpSp>
      <p:grpSp>
        <p:nvGrpSpPr>
          <p:cNvPr id="368" name="Group"/>
          <p:cNvGrpSpPr>
            <a:grpSpLocks noGrp="1" noUngrp="1" noRot="1" noMove="1" noResize="1"/>
          </p:cNvGrpSpPr>
          <p:nvPr/>
        </p:nvGrpSpPr>
        <p:grpSpPr>
          <a:xfrm>
            <a:off x="8437033" y="5694679"/>
            <a:ext cx="6858001" cy="2834641"/>
            <a:chOff x="0" y="0"/>
            <a:chExt cx="6858000" cy="2834639"/>
          </a:xfrm>
        </p:grpSpPr>
        <p:sp>
          <p:nvSpPr>
            <p:cNvPr id="367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rPr dirty="0"/>
                <a:t>Section Divider Descriptions</a:t>
              </a:r>
            </a:p>
          </p:txBody>
        </p:sp>
        <p:sp>
          <p:nvSpPr>
            <p:cNvPr id="366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39"/>
              <a:ext cx="6858000" cy="217170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/>
                <a:t>Should dividers indicate slide counts? e.g. '5+ slides per section' or '10+ slides total'.</a:t>
              </a:r>
            </a:p>
          </p:txBody>
        </p:sp>
      </p:grpSp>
      <p:grpSp>
        <p:nvGrpSpPr>
          <p:cNvPr id="371" name="Group"/>
          <p:cNvGrpSpPr>
            <a:grpSpLocks noGrp="1" noUngrp="1" noRot="1" noMove="1" noResize="1"/>
          </p:cNvGrpSpPr>
          <p:nvPr/>
        </p:nvGrpSpPr>
        <p:grpSpPr>
          <a:xfrm>
            <a:off x="15803031" y="5694678"/>
            <a:ext cx="6894576" cy="3447740"/>
            <a:chOff x="-1" y="-1"/>
            <a:chExt cx="6894575" cy="3447739"/>
          </a:xfrm>
        </p:grpSpPr>
        <p:sp>
          <p:nvSpPr>
            <p:cNvPr id="370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"/>
              <a:ext cx="6858000" cy="66294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b">
              <a:spAutoFit/>
            </a:bodyPr>
            <a:lstStyle>
              <a:lvl1pPr>
                <a:defRPr sz="2800">
                  <a:latin typeface="Public Sans Bold"/>
                  <a:ea typeface="Public Sans Bold"/>
                  <a:cs typeface="Public Sans Bold"/>
                  <a:sym typeface="Public Sans Bold"/>
                </a:defRPr>
              </a:lvl1pPr>
            </a:lstStyle>
            <a:p>
              <a:r>
                <a:t>Pre-Generation Questions</a:t>
              </a:r>
            </a:p>
          </p:txBody>
        </p:sp>
        <p:sp>
          <p:nvSpPr>
            <p:cNvPr id="369" name="Text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" y="662940"/>
              <a:ext cx="6894575" cy="2784798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919" tIns="121919" rIns="121919" bIns="121919" numCol="1" anchor="t">
              <a:spAutoFit/>
            </a:bodyPr>
            <a:lstStyle>
              <a:lvl1pPr>
                <a:defRPr sz="2800"/>
              </a:lvl1pPr>
            </a:lstStyle>
            <a:p>
              <a:r>
                <a:rPr dirty="0"/>
                <a:t>Should Claude ask about presentation context or setting before generating, if it's unclear?</a:t>
              </a:r>
            </a:p>
          </p:txBody>
        </p:sp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7000" y="9748006"/>
            <a:ext cx="11378608" cy="12979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lnSpc>
                <a:spcPct val="100000"/>
              </a:lnSpc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Sora Regular"/>
              </a:defRPr>
            </a:lvl1pPr>
          </a:lstStyle>
          <a:p>
            <a:r>
              <a:rPr lang="da-DK" dirty="0"/>
              <a:t>Questions? Let’s discuss.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ChronosHub Presentation Template (Winter 2025) (1)" id="{E67A45DE-25F8-4FFD-ADBA-DB8881810518}" vid="{10745965-B957-468A-9E6D-06F34891360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ra Regular"/>
        <a:ea typeface="Sora Regular"/>
        <a:cs typeface="Sora Regular"/>
      </a:majorFont>
      <a:minorFont>
        <a:latin typeface="Sora Regular"/>
        <a:ea typeface="Sora Regular"/>
        <a:cs typeface="Sora Regular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048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ublic Sans Regular"/>
            <a:ea typeface="Public Sans Regular"/>
            <a:cs typeface="Public Sans Regular"/>
            <a:sym typeface="Public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7B9DAA5485C4884DAC9AE6BD4FCCC" ma:contentTypeVersion="3" ma:contentTypeDescription="Create a new document." ma:contentTypeScope="" ma:versionID="bca1ed1051fbfc5da15ba8a56e99e615">
  <xsd:schema xmlns:xsd="http://www.w3.org/2001/XMLSchema" xmlns:xs="http://www.w3.org/2001/XMLSchema" xmlns:p="http://schemas.microsoft.com/office/2006/metadata/properties" xmlns:ns2="79387a8e-e5e3-4476-871a-055310360781" targetNamespace="http://schemas.microsoft.com/office/2006/metadata/properties" ma:root="true" ma:fieldsID="498d2e5b4be761b71e0300f23ce5f56a" ns2:_="">
    <xsd:import namespace="79387a8e-e5e3-4476-871a-0553103607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87a8e-e5e3-4476-871a-0553103607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C2F3DE-8852-41A0-9C2A-657A84E861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387a8e-e5e3-4476-871a-0553103607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AD54ED-EC74-48B5-8AED-4049FD0EA76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6333226-39CA-44B8-88AE-9DF85F50FC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1631</TotalTime>
  <Words>351</Words>
  <Application>Microsoft Office PowerPoint</Application>
  <PresentationFormat>Anpassad</PresentationFormat>
  <Paragraphs>46</Paragraphs>
  <Slides>8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11" baseType="lpstr">
      <vt:lpstr>Helvetica Neue</vt:lpstr>
      <vt:lpstr>Public Sans Regular</vt:lpstr>
      <vt:lpstr>21_BasicWhite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Axel Rosén-Lidholm</cp:lastModifiedBy>
  <cp:revision>89</cp:revision>
  <dcterms:modified xsi:type="dcterms:W3CDTF">2026-06-15T09:03:25Z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0x010100D7E7B9DAA5485C4884DAC9AE6BD4FCCC</vt:lpwstr>
  </property>
</Properties>
</file>