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1"/>
  </p:notesMasterIdLst>
  <p:sldIdLst>
    <p:sldId id="326" r:id="rId5"/>
    <p:sldId id="329" r:id="rId6"/>
    <p:sldId id="283" r:id="rId7"/>
    <p:sldId id="277" r:id="rId8"/>
    <p:sldId id="289" r:id="rId9"/>
    <p:sldId id="315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1pPr>
    <a:lvl2pPr marL="0" marR="0" indent="457117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2pPr>
    <a:lvl3pPr marL="0" marR="0" indent="914234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3pPr>
    <a:lvl4pPr marL="0" marR="0" indent="1371353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4pPr>
    <a:lvl5pPr marL="0" marR="0" indent="1828469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5pPr>
    <a:lvl6pPr marL="0" marR="0" indent="2285588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6pPr>
    <a:lvl7pPr marL="0" marR="0" indent="2742705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7pPr>
    <a:lvl8pPr marL="0" marR="0" indent="3199822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8pPr>
    <a:lvl9pPr marL="0" marR="0" indent="3656939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9pPr>
  </p:defaultTextStyle>
  <p:extLst>
    <p:ext uri="{521415D9-36F7-43E2-AB2F-B90AF26B5E84}">
      <p14:sectionLst xmlns:p14="http://schemas.microsoft.com/office/powerpoint/2010/main">
        <p14:section name="Working slides" id="{12A10655-B00F-B546-A5E0-09060B06241C}">
          <p14:sldIdLst>
            <p14:sldId id="326"/>
          </p14:sldIdLst>
        </p14:section>
        <p14:section name="Template slides" id="{C75A84C8-6633-A54D-AE16-BAD1FC83A9AC}">
          <p14:sldIdLst>
            <p14:sldId id="329"/>
            <p14:sldId id="283"/>
            <p14:sldId id="277"/>
            <p14:sldId id="289"/>
            <p14:sldId id="315"/>
          </p14:sldIdLst>
        </p14:section>
        <p14:section name="Tokens and assets" id="{18096EAF-35E0-1147-9A8A-5507082F7FB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6"/>
    <p:restoredTop sz="94752"/>
  </p:normalViewPr>
  <p:slideViewPr>
    <p:cSldViewPr>
      <p:cViewPr varScale="1">
        <p:scale>
          <a:sx n="52" d="100"/>
          <a:sy n="52" d="100"/>
        </p:scale>
        <p:origin x="528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169" d="100"/>
          <a:sy n="169" d="100"/>
        </p:scale>
        <p:origin x="8624" y="2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Blank (With ChronosHub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Black Accent (With ChronosHub Lo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Marine Accent (With ChronosHub Lo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Violet Accent (With ChronosHub Logo) copy 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Indi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Violet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Indi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Marine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Marine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Violet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_Color.pdf" descr="Full_Color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90000" y="508000"/>
            <a:ext cx="2032000" cy="308187"/>
          </a:xfrm>
          <a:prstGeom prst="rect">
            <a:avLst/>
          </a:prstGeom>
          <a:ln w="3175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19199" y="184149"/>
            <a:ext cx="21945601" cy="301625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199" y="3200399"/>
            <a:ext cx="21945601" cy="1051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036938" y="12720956"/>
            <a:ext cx="670663" cy="713741"/>
          </a:xfrm>
          <a:prstGeom prst="rect">
            <a:avLst/>
          </a:prstGeom>
          <a:ln w="3175">
            <a:miter lim="400000"/>
          </a:ln>
        </p:spPr>
        <p:txBody>
          <a:bodyPr wrap="none" lIns="121919" tIns="121919" rIns="121919" bIns="121919" anchor="ctr">
            <a:spAutoFit/>
          </a:bodyPr>
          <a:lstStyle>
            <a:lvl1pPr algn="r">
              <a:defRPr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1pPr>
      <a:lvl2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2pPr>
      <a:lvl3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3pPr>
      <a:lvl4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4pPr>
      <a:lvl5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5pPr>
      <a:lvl6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6pPr>
      <a:lvl7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7pPr>
      <a:lvl8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8pPr>
      <a:lvl9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9pPr>
    </p:titleStyle>
    <p:bodyStyle>
      <a:lvl1pPr marL="424528" marR="0" indent="-424528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1pPr>
      <a:lvl2pPr marL="838171" marR="0" indent="-495282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2pPr>
      <a:lvl3pPr marL="1280117" marR="0" indent="-594339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3pPr>
      <a:lvl4pPr marL="1714443" marR="0" indent="-685776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4pPr>
      <a:lvl5pPr marL="2057331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5pPr>
      <a:lvl6pPr marL="2400220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6pPr>
      <a:lvl7pPr marL="2743109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7pPr>
      <a:lvl8pPr marL="3085999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8pPr>
      <a:lvl9pPr marL="3428887" marR="0" indent="-685776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9pPr>
    </p:bodyStyle>
    <p:otherStyle>
      <a:lvl1pPr marL="0" marR="0" indent="0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1pPr>
      <a:lvl2pPr marL="0" marR="0" indent="457117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2pPr>
      <a:lvl3pPr marL="0" marR="0" indent="914234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3pPr>
      <a:lvl4pPr marL="0" marR="0" indent="1371353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4pPr>
      <a:lvl5pPr marL="0" marR="0" indent="1828469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5pPr>
      <a:lvl6pPr marL="0" marR="0" indent="2285588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6pPr>
      <a:lvl7pPr marL="0" marR="0" indent="2742705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7pPr>
      <a:lvl8pPr marL="0" marR="0" indent="3199822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8pPr>
      <a:lvl9pPr marL="0" marR="0" indent="3656939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FE32-3FEF-61B4-1637-A8477E1D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ull_Color.pdf" descr="Full_Color.pdf">
            <a:extLst>
              <a:ext uri="{FF2B5EF4-FFF2-40B4-BE49-F238E27FC236}">
                <a16:creationId xmlns:a16="http://schemas.microsoft.com/office/drawing/2014/main" id="{C92DB291-9A3F-16AC-2551-CA14F5E205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6542192"/>
            <a:ext cx="5080000" cy="770469"/>
          </a:xfrm>
          <a:prstGeom prst="rect">
            <a:avLst/>
          </a:prstGeom>
          <a:ln w="3175">
            <a:miter lim="400000"/>
          </a:ln>
        </p:spPr>
      </p:pic>
      <p:sp>
        <p:nvSpPr>
          <p:cNvPr id="119" name="Text">
            <a:extLst>
              <a:ext uri="{FF2B5EF4-FFF2-40B4-BE49-F238E27FC236}">
                <a16:creationId xmlns:a16="http://schemas.microsoft.com/office/drawing/2014/main" id="{D7437C5D-B81F-6857-53B3-1849F864AB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7825" y="7820660"/>
            <a:ext cx="18288000" cy="345270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b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defRPr sz="9600">
                <a:solidFill>
                  <a:srgbClr val="FFFFFF"/>
                </a:solidFill>
                <a:latin typeface="Sora"/>
                <a:ea typeface="Sora"/>
                <a:cs typeface="Sora"/>
                <a:sym typeface="Sora Medium"/>
              </a:defRPr>
            </a:pPr>
            <a:r>
              <a:rPr lang="da-DK" dirty="0"/>
              <a:t>Managing Skills</a:t>
            </a:r>
            <a:endParaRPr dirty="0"/>
          </a:p>
          <a:p>
            <a:pPr>
              <a:lnSpc>
                <a:spcPct val="100000"/>
              </a:lnSpc>
              <a:spcBef>
                <a:spcPts val="1000"/>
              </a:spcBef>
              <a:defRPr sz="9600">
                <a:solidFill>
                  <a:srgbClr val="FFFFFF"/>
                </a:solidFill>
                <a:latin typeface="Sora Light"/>
                <a:ea typeface="Sora Light"/>
                <a:cs typeface="Sora Light"/>
                <a:sym typeface="Sora Light"/>
              </a:defRPr>
            </a:pPr>
            <a:r>
              <a:rPr lang="da-DK" dirty="0"/>
              <a:t>Cross-Company</a:t>
            </a:r>
            <a:endParaRPr dirty="0"/>
          </a:p>
        </p:txBody>
      </p:sp>
      <p:sp>
        <p:nvSpPr>
          <p:cNvPr id="117" name="Text">
            <a:extLst>
              <a:ext uri="{FF2B5EF4-FFF2-40B4-BE49-F238E27FC236}">
                <a16:creationId xmlns:a16="http://schemas.microsoft.com/office/drawing/2014/main" id="{F5CD03A2-3241-A628-B369-5327DB32B0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3800" y="11915114"/>
            <a:ext cx="11378608" cy="7268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7000" tIns="127000" rIns="127000" bIns="127000" anchor="b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lang="da-DK" dirty="0"/>
              <a:t>26</a:t>
            </a:r>
            <a:r>
              <a:rPr dirty="0"/>
              <a:t>-</a:t>
            </a:r>
            <a:r>
              <a:rPr lang="da-DK" dirty="0"/>
              <a:t>06</a:t>
            </a:r>
            <a:r>
              <a:rPr dirty="0"/>
              <a:t>-</a:t>
            </a:r>
            <a:r>
              <a:rPr lang="da-DK" dirty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43698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kstfelt 1"/>
          <p:cNvSpPr txBox="1"/>
          <p:nvPr/>
        </p:nvSpPr>
        <p:spPr>
          <a:xfrm>
            <a:off x="1071032" y="6399530"/>
            <a:ext cx="7620001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rPr dirty="0">
                <a:solidFill>
                  <a:srgbClr val="000000"/>
                </a:solidFill>
              </a:rPr>
              <a:t>The Challenge</a:t>
            </a:r>
          </a:p>
        </p:txBody>
      </p:sp>
      <p:grpSp>
        <p:nvGrpSpPr>
          <p:cNvPr id="344" name="Group"/>
          <p:cNvGrpSpPr/>
          <p:nvPr/>
        </p:nvGrpSpPr>
        <p:grpSpPr>
          <a:xfrm>
            <a:off x="11231033" y="2852419"/>
            <a:ext cx="10922001" cy="2331722"/>
            <a:chOff x="0" y="0"/>
            <a:chExt cx="10922000" cy="2331720"/>
          </a:xfrm>
        </p:grpSpPr>
        <p:sp>
          <p:nvSpPr>
            <p:cNvPr id="342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>
                <a:defRPr sz="2800"/>
              </a:pPr>
              <a:endParaRPr/>
            </a:p>
            <a:p>
              <a:pPr>
                <a:defRPr sz="2800"/>
              </a:pPr>
              <a:endParaRPr/>
            </a:p>
          </p:txBody>
        </p:sp>
        <p:sp>
          <p:nvSpPr>
            <p:cNvPr id="343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Manual installs</a:t>
              </a:r>
            </a:p>
          </p:txBody>
        </p:sp>
      </p:grpSp>
      <p:grpSp>
        <p:nvGrpSpPr>
          <p:cNvPr id="347" name="Group"/>
          <p:cNvGrpSpPr/>
          <p:nvPr/>
        </p:nvGrpSpPr>
        <p:grpSpPr>
          <a:xfrm>
            <a:off x="11231033" y="5692139"/>
            <a:ext cx="10922001" cy="2331722"/>
            <a:chOff x="0" y="0"/>
            <a:chExt cx="10922000" cy="2331720"/>
          </a:xfrm>
        </p:grpSpPr>
        <p:sp>
          <p:nvSpPr>
            <p:cNvPr id="345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>
                <a:defRPr sz="2800"/>
              </a:pPr>
              <a:r>
                <a:rPr dirty="0">
                  <a:solidFill>
                    <a:srgbClr val="000000"/>
                  </a:solidFill>
                </a:rPr>
                <a:t>Everyone installs skills individually. One missed update</a:t>
              </a:r>
            </a:p>
            <a:p>
              <a:pPr>
                <a:defRPr sz="2800"/>
              </a:pPr>
              <a:r>
                <a:rPr dirty="0">
                  <a:solidFill>
                    <a:srgbClr val="000000"/>
                  </a:solidFill>
                </a:rPr>
                <a:t>means broken workflows for the whole team.</a:t>
              </a:r>
            </a:p>
            <a:p>
              <a:pPr>
                <a:defRPr sz="2800"/>
              </a:pPr>
              <a:endParaRPr dirty="0">
                <a:solidFill>
                  <a:srgbClr val="000000"/>
                </a:solidFill>
              </a:endParaRPr>
            </a:p>
          </p:txBody>
        </p:sp>
        <p:sp>
          <p:nvSpPr>
            <p:cNvPr id="346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Version drift</a:t>
              </a:r>
            </a:p>
          </p:txBody>
        </p:sp>
      </p:grpSp>
      <p:grpSp>
        <p:nvGrpSpPr>
          <p:cNvPr id="350" name="Group"/>
          <p:cNvGrpSpPr/>
          <p:nvPr/>
        </p:nvGrpSpPr>
        <p:grpSpPr>
          <a:xfrm>
            <a:off x="11231033" y="8531859"/>
            <a:ext cx="10922001" cy="2331722"/>
            <a:chOff x="0" y="0"/>
            <a:chExt cx="10922000" cy="2331720"/>
          </a:xfrm>
        </p:grpSpPr>
        <p:sp>
          <p:nvSpPr>
            <p:cNvPr id="348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Team members run different skill versions — no alignment.</a:t>
              </a:r>
            </a:p>
          </p:txBody>
        </p:sp>
        <p:sp>
          <p:nvSpPr>
            <p:cNvPr id="349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No central control</a:t>
              </a: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6800" y="1066800"/>
            <a:ext cx="10972800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rPr dirty="0"/>
              <a:t>The Solution</a:t>
            </a:r>
          </a:p>
        </p:txBody>
      </p:sp>
      <p:pic>
        <p:nvPicPr>
          <p:cNvPr id="311" name="Gradient-Violet.pdf" descr="Gradient-Violet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44565" t="40338" r="33695" b="5556"/>
          <a:stretch>
            <a:fillRect/>
          </a:stretch>
        </p:blipFill>
        <p:spPr>
          <a:xfrm>
            <a:off x="1083733" y="3166664"/>
            <a:ext cx="6773466" cy="9482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05" y="0"/>
                </a:moveTo>
                <a:cubicBezTo>
                  <a:pt x="357" y="0"/>
                  <a:pt x="268" y="0"/>
                  <a:pt x="209" y="18"/>
                </a:cubicBezTo>
                <a:cubicBezTo>
                  <a:pt x="123" y="40"/>
                  <a:pt x="56" y="88"/>
                  <a:pt x="25" y="149"/>
                </a:cubicBezTo>
                <a:cubicBezTo>
                  <a:pt x="1" y="192"/>
                  <a:pt x="0" y="255"/>
                  <a:pt x="0" y="361"/>
                </a:cubicBezTo>
                <a:lnTo>
                  <a:pt x="0" y="21239"/>
                </a:lnTo>
                <a:cubicBezTo>
                  <a:pt x="0" y="21345"/>
                  <a:pt x="1" y="21408"/>
                  <a:pt x="25" y="21450"/>
                </a:cubicBezTo>
                <a:cubicBezTo>
                  <a:pt x="56" y="21511"/>
                  <a:pt x="123" y="21560"/>
                  <a:pt x="209" y="21582"/>
                </a:cubicBezTo>
                <a:cubicBezTo>
                  <a:pt x="268" y="21600"/>
                  <a:pt x="357" y="21599"/>
                  <a:pt x="505" y="21599"/>
                </a:cubicBezTo>
                <a:lnTo>
                  <a:pt x="21094" y="21599"/>
                </a:lnTo>
                <a:cubicBezTo>
                  <a:pt x="21242" y="21599"/>
                  <a:pt x="21332" y="21600"/>
                  <a:pt x="21391" y="21582"/>
                </a:cubicBezTo>
                <a:cubicBezTo>
                  <a:pt x="21477" y="21560"/>
                  <a:pt x="21544" y="21511"/>
                  <a:pt x="21575" y="21450"/>
                </a:cubicBezTo>
                <a:cubicBezTo>
                  <a:pt x="21599" y="21408"/>
                  <a:pt x="21600" y="21345"/>
                  <a:pt x="21600" y="21239"/>
                </a:cubicBezTo>
                <a:lnTo>
                  <a:pt x="21600" y="361"/>
                </a:lnTo>
                <a:cubicBezTo>
                  <a:pt x="21600" y="255"/>
                  <a:pt x="21599" y="192"/>
                  <a:pt x="21575" y="149"/>
                </a:cubicBezTo>
                <a:cubicBezTo>
                  <a:pt x="21544" y="88"/>
                  <a:pt x="21477" y="40"/>
                  <a:pt x="21391" y="18"/>
                </a:cubicBezTo>
                <a:cubicBezTo>
                  <a:pt x="21332" y="0"/>
                  <a:pt x="21242" y="0"/>
                  <a:pt x="21094" y="0"/>
                </a:cubicBezTo>
                <a:lnTo>
                  <a:pt x="505" y="0"/>
                </a:lnTo>
                <a:close/>
              </a:path>
            </a:pathLst>
          </a:custGeom>
          <a:ln w="3175">
            <a:miter lim="400000"/>
          </a:ln>
        </p:spPr>
      </p:pic>
      <p:sp>
        <p:nvSpPr>
          <p:cNvPr id="313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22399" y="3524380"/>
            <a:ext cx="6096001" cy="7137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Plugin Marketplace</a:t>
            </a:r>
          </a:p>
        </p:txBody>
      </p:sp>
      <p:sp>
        <p:nvSpPr>
          <p:cNvPr id="316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22399" y="10893344"/>
            <a:ext cx="6096001" cy="14173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lvl1pPr>
          </a:lstStyle>
          <a:p>
            <a:r>
              <a:t>Publish skills as required plugins.
They auto-install for every user
— no action needed.</a:t>
            </a:r>
          </a:p>
        </p:txBody>
      </p:sp>
      <p:pic>
        <p:nvPicPr>
          <p:cNvPr id="309" name="Gradient-Violet.pdf" descr="Gradient-Violet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3693" t="239" r="54566" b="45654"/>
          <a:stretch>
            <a:fillRect/>
          </a:stretch>
        </p:blipFill>
        <p:spPr>
          <a:xfrm>
            <a:off x="8805333" y="3166664"/>
            <a:ext cx="6773467" cy="9482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05" y="0"/>
                </a:moveTo>
                <a:cubicBezTo>
                  <a:pt x="357" y="0"/>
                  <a:pt x="268" y="0"/>
                  <a:pt x="209" y="18"/>
                </a:cubicBezTo>
                <a:cubicBezTo>
                  <a:pt x="123" y="40"/>
                  <a:pt x="56" y="88"/>
                  <a:pt x="25" y="149"/>
                </a:cubicBezTo>
                <a:cubicBezTo>
                  <a:pt x="1" y="192"/>
                  <a:pt x="0" y="255"/>
                  <a:pt x="0" y="361"/>
                </a:cubicBezTo>
                <a:lnTo>
                  <a:pt x="0" y="21239"/>
                </a:lnTo>
                <a:cubicBezTo>
                  <a:pt x="0" y="21345"/>
                  <a:pt x="1" y="21408"/>
                  <a:pt x="25" y="21450"/>
                </a:cubicBezTo>
                <a:cubicBezTo>
                  <a:pt x="56" y="21511"/>
                  <a:pt x="123" y="21560"/>
                  <a:pt x="209" y="21582"/>
                </a:cubicBezTo>
                <a:cubicBezTo>
                  <a:pt x="268" y="21600"/>
                  <a:pt x="357" y="21599"/>
                  <a:pt x="505" y="21599"/>
                </a:cubicBezTo>
                <a:lnTo>
                  <a:pt x="21094" y="21599"/>
                </a:lnTo>
                <a:cubicBezTo>
                  <a:pt x="21242" y="21599"/>
                  <a:pt x="21332" y="21600"/>
                  <a:pt x="21391" y="21582"/>
                </a:cubicBezTo>
                <a:cubicBezTo>
                  <a:pt x="21477" y="21560"/>
                  <a:pt x="21544" y="21511"/>
                  <a:pt x="21575" y="21450"/>
                </a:cubicBezTo>
                <a:cubicBezTo>
                  <a:pt x="21599" y="21408"/>
                  <a:pt x="21600" y="21345"/>
                  <a:pt x="21600" y="21239"/>
                </a:cubicBezTo>
                <a:lnTo>
                  <a:pt x="21600" y="361"/>
                </a:lnTo>
                <a:cubicBezTo>
                  <a:pt x="21600" y="255"/>
                  <a:pt x="21599" y="192"/>
                  <a:pt x="21575" y="149"/>
                </a:cubicBezTo>
                <a:cubicBezTo>
                  <a:pt x="21544" y="88"/>
                  <a:pt x="21477" y="40"/>
                  <a:pt x="21391" y="18"/>
                </a:cubicBezTo>
                <a:cubicBezTo>
                  <a:pt x="21332" y="0"/>
                  <a:pt x="21242" y="0"/>
                  <a:pt x="21094" y="0"/>
                </a:cubicBezTo>
                <a:lnTo>
                  <a:pt x="505" y="0"/>
                </a:lnTo>
                <a:close/>
              </a:path>
            </a:pathLst>
          </a:custGeom>
          <a:ln w="3175">
            <a:miter lim="400000"/>
          </a:ln>
        </p:spPr>
      </p:pic>
      <p:sp>
        <p:nvSpPr>
          <p:cNvPr id="314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0" y="3524380"/>
            <a:ext cx="6096000" cy="7137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GitHub Sync</a:t>
            </a:r>
          </a:p>
        </p:txBody>
      </p:sp>
      <p:sp>
        <p:nvSpPr>
          <p:cNvPr id="317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0" y="10893344"/>
            <a:ext cx="6096000" cy="14173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b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pPr>
            <a:r>
              <a:t>Connect the marketplace to a GitHub repo.</a:t>
            </a:r>
          </a:p>
          <a:p>
            <a: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pPr>
            <a:r>
              <a:t>Multiple editors, full audit trail, zero manual uploads.</a:t>
            </a:r>
          </a:p>
        </p:txBody>
      </p:sp>
      <p:pic>
        <p:nvPicPr>
          <p:cNvPr id="310" name="Gradient-Violet.pdf" descr="Gradient-Violet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65052" t="7251" r="13208" b="38643"/>
          <a:stretch>
            <a:fillRect/>
          </a:stretch>
        </p:blipFill>
        <p:spPr>
          <a:xfrm>
            <a:off x="16526932" y="3166664"/>
            <a:ext cx="6773467" cy="9482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05" y="0"/>
                </a:moveTo>
                <a:cubicBezTo>
                  <a:pt x="357" y="0"/>
                  <a:pt x="268" y="0"/>
                  <a:pt x="209" y="18"/>
                </a:cubicBezTo>
                <a:cubicBezTo>
                  <a:pt x="123" y="40"/>
                  <a:pt x="56" y="88"/>
                  <a:pt x="25" y="149"/>
                </a:cubicBezTo>
                <a:cubicBezTo>
                  <a:pt x="1" y="192"/>
                  <a:pt x="0" y="255"/>
                  <a:pt x="0" y="361"/>
                </a:cubicBezTo>
                <a:lnTo>
                  <a:pt x="0" y="21239"/>
                </a:lnTo>
                <a:cubicBezTo>
                  <a:pt x="0" y="21345"/>
                  <a:pt x="1" y="21408"/>
                  <a:pt x="25" y="21450"/>
                </a:cubicBezTo>
                <a:cubicBezTo>
                  <a:pt x="56" y="21511"/>
                  <a:pt x="123" y="21560"/>
                  <a:pt x="209" y="21582"/>
                </a:cubicBezTo>
                <a:cubicBezTo>
                  <a:pt x="268" y="21600"/>
                  <a:pt x="357" y="21599"/>
                  <a:pt x="505" y="21599"/>
                </a:cubicBezTo>
                <a:lnTo>
                  <a:pt x="21094" y="21599"/>
                </a:lnTo>
                <a:cubicBezTo>
                  <a:pt x="21242" y="21599"/>
                  <a:pt x="21332" y="21600"/>
                  <a:pt x="21391" y="21582"/>
                </a:cubicBezTo>
                <a:cubicBezTo>
                  <a:pt x="21477" y="21560"/>
                  <a:pt x="21544" y="21511"/>
                  <a:pt x="21575" y="21450"/>
                </a:cubicBezTo>
                <a:cubicBezTo>
                  <a:pt x="21599" y="21408"/>
                  <a:pt x="21600" y="21345"/>
                  <a:pt x="21600" y="21239"/>
                </a:cubicBezTo>
                <a:lnTo>
                  <a:pt x="21600" y="361"/>
                </a:lnTo>
                <a:cubicBezTo>
                  <a:pt x="21600" y="255"/>
                  <a:pt x="21599" y="192"/>
                  <a:pt x="21575" y="149"/>
                </a:cubicBezTo>
                <a:cubicBezTo>
                  <a:pt x="21544" y="88"/>
                  <a:pt x="21477" y="40"/>
                  <a:pt x="21391" y="18"/>
                </a:cubicBezTo>
                <a:cubicBezTo>
                  <a:pt x="21332" y="0"/>
                  <a:pt x="21242" y="0"/>
                  <a:pt x="21094" y="0"/>
                </a:cubicBezTo>
                <a:lnTo>
                  <a:pt x="505" y="0"/>
                </a:lnTo>
                <a:close/>
              </a:path>
            </a:pathLst>
          </a:custGeom>
          <a:ln w="3175">
            <a:miter lim="400000"/>
          </a:ln>
        </p:spPr>
      </p:pic>
      <p:sp>
        <p:nvSpPr>
          <p:cNvPr id="315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865600" y="3524380"/>
            <a:ext cx="6096000" cy="7137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Auto-Update</a:t>
            </a:r>
          </a:p>
        </p:txBody>
      </p:sp>
      <p:sp>
        <p:nvSpPr>
          <p:cNvPr id="318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865600" y="10893344"/>
            <a:ext cx="6096000" cy="14173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b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pPr>
            <a:r>
              <a:t>Enable auto-update on push. Every merge to main</a:t>
            </a:r>
          </a:p>
          <a:p>
            <a: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pPr>
            <a:r>
              <a:t>goes live for the whole company instantly.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Curve Insert (Marine-Indigo).svg" descr="Curve Insert (Marine-Indigo).sv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36111"/>
          <a:stretch>
            <a:fillRect/>
          </a:stretch>
        </p:blipFill>
        <p:spPr>
          <a:xfrm>
            <a:off x="8805333" y="-1"/>
            <a:ext cx="15578668" cy="13716001"/>
          </a:xfrm>
          <a:prstGeom prst="rect">
            <a:avLst/>
          </a:prstGeom>
          <a:ln w="3175">
            <a:miter lim="400000"/>
          </a:ln>
        </p:spPr>
      </p:pic>
      <p:pic>
        <p:nvPicPr>
          <p:cNvPr id="280" name="Full_Color.pdf" descr="Full_Color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0" y="503766"/>
            <a:ext cx="2032000" cy="308188"/>
          </a:xfrm>
          <a:prstGeom prst="rect">
            <a:avLst/>
          </a:prstGeom>
          <a:ln w="3175">
            <a:miter lim="400000"/>
          </a:ln>
        </p:spPr>
      </p:pic>
      <p:sp>
        <p:nvSpPr>
          <p:cNvPr id="281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2" y="6304280"/>
            <a:ext cx="6583680" cy="11074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5400">
                <a:latin typeface="Sora Light"/>
                <a:ea typeface="Sora Light"/>
                <a:cs typeface="Sora Light"/>
                <a:sym typeface="Sora Light"/>
              </a:defRPr>
            </a:lvl1pPr>
          </a:lstStyle>
          <a:p>
            <a:r>
              <a:rPr dirty="0"/>
              <a:t>Key insight</a:t>
            </a:r>
          </a:p>
        </p:txBody>
      </p:sp>
      <p:sp>
        <p:nvSpPr>
          <p:cNvPr id="28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14600" y="6219189"/>
            <a:ext cx="10160001" cy="12776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GitHub sync makes every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skill update automatic for the whole company.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2" y="6399530"/>
            <a:ext cx="5842001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rPr dirty="0">
                <a:solidFill>
                  <a:srgbClr val="000000"/>
                </a:solidFill>
              </a:rPr>
              <a:t>Recommended Setup</a:t>
            </a:r>
          </a:p>
        </p:txBody>
      </p:sp>
      <p:grpSp>
        <p:nvGrpSpPr>
          <p:cNvPr id="351" name="Group"/>
          <p:cNvGrpSpPr>
            <a:grpSpLocks noGrp="1" noUngrp="1" noRot="1" noMove="1" noResize="1"/>
          </p:cNvGrpSpPr>
          <p:nvPr/>
        </p:nvGrpSpPr>
        <p:grpSpPr>
          <a:xfrm>
            <a:off x="8183033" y="4765040"/>
            <a:ext cx="7112001" cy="1828800"/>
            <a:chOff x="0" y="0"/>
            <a:chExt cx="7112000" cy="1828799"/>
          </a:xfrm>
        </p:grpSpPr>
        <p:sp>
          <p:nvSpPr>
            <p:cNvPr id="350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Create a GitHub repo</a:t>
              </a:r>
            </a:p>
          </p:txBody>
        </p:sp>
        <p:sp>
          <p:nvSpPr>
            <p:cNvPr id="34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Store plugin definitions in a shared repo. Use PRs for changes.</a:t>
              </a:r>
            </a:p>
          </p:txBody>
        </p:sp>
      </p:grpSp>
      <p:grpSp>
        <p:nvGrpSpPr>
          <p:cNvPr id="354" name="Group"/>
          <p:cNvGrpSpPr>
            <a:grpSpLocks noGrp="1" noUngrp="1" noRot="1" noMove="1" noResize="1"/>
          </p:cNvGrpSpPr>
          <p:nvPr/>
        </p:nvGrpSpPr>
        <p:grpSpPr>
          <a:xfrm>
            <a:off x="8183033" y="7122159"/>
            <a:ext cx="7112001" cy="1828801"/>
            <a:chOff x="0" y="0"/>
            <a:chExt cx="7112000" cy="1828799"/>
          </a:xfrm>
        </p:grpSpPr>
        <p:sp>
          <p:nvSpPr>
            <p:cNvPr id="353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Sync to the marketplace</a:t>
              </a:r>
            </a:p>
          </p:txBody>
        </p:sp>
        <p:sp>
          <p:nvSpPr>
            <p:cNvPr id="352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>
                <a:defRPr sz="2800"/>
              </a:pPr>
              <a:r>
                <a:rPr dirty="0">
                  <a:solidFill>
                    <a:srgbClr val="000000"/>
                  </a:solidFill>
                </a:rPr>
                <a:t>Connect via GitHub integration — changes flow automatically.</a:t>
              </a:r>
            </a:p>
            <a:p>
              <a:pPr>
                <a:defRPr sz="2800"/>
              </a:pPr>
              <a:endParaRPr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57" name="Group"/>
          <p:cNvGrpSpPr>
            <a:grpSpLocks noGrp="1" noUngrp="1" noRot="1" noMove="1" noResize="1"/>
          </p:cNvGrpSpPr>
          <p:nvPr/>
        </p:nvGrpSpPr>
        <p:grpSpPr>
          <a:xfrm>
            <a:off x="15803033" y="4765039"/>
            <a:ext cx="7112001" cy="1828801"/>
            <a:chOff x="0" y="0"/>
            <a:chExt cx="7112000" cy="1828800"/>
          </a:xfrm>
        </p:grpSpPr>
        <p:sp>
          <p:nvSpPr>
            <p:cNvPr id="356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Enable auto-update on push</a:t>
              </a:r>
            </a:p>
          </p:txBody>
        </p:sp>
        <p:sp>
          <p:nvSpPr>
            <p:cNvPr id="355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>
                <a:defRPr sz="2800"/>
              </a:pPr>
              <a:r>
                <a:rPr dirty="0">
                  <a:solidFill>
                    <a:srgbClr val="000000"/>
                  </a:solidFill>
                </a:rPr>
                <a:t>Every push to main goes live for all users automatically.</a:t>
              </a:r>
            </a:p>
            <a:p>
              <a:pPr>
                <a:defRPr sz="2800"/>
              </a:pPr>
              <a:endParaRPr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0" name="Group"/>
          <p:cNvGrpSpPr>
            <a:grpSpLocks noGrp="1" noUngrp="1" noRot="1" noMove="1" noResize="1"/>
          </p:cNvGrpSpPr>
          <p:nvPr/>
        </p:nvGrpSpPr>
        <p:grpSpPr>
          <a:xfrm>
            <a:off x="15803033" y="7122159"/>
            <a:ext cx="7112001" cy="1828801"/>
            <a:chOff x="0" y="0"/>
            <a:chExt cx="7112000" cy="1828799"/>
          </a:xfrm>
        </p:grpSpPr>
        <p:sp>
          <p:nvSpPr>
            <p:cNvPr id="35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>
                  <a:solidFill>
                    <a:srgbClr val="000000"/>
                  </a:solidFill>
                </a:rPr>
                <a:t>Mark mandatory skills as required</a:t>
              </a:r>
            </a:p>
          </p:txBody>
        </p:sp>
        <p:sp>
          <p:nvSpPr>
            <p:cNvPr id="358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>
                <a:defRPr sz="2800"/>
              </a:pPr>
              <a:r>
                <a:rPr dirty="0">
                  <a:solidFill>
                    <a:srgbClr val="000000"/>
                  </a:solidFill>
                </a:rPr>
                <a:t>Publish required skills as auto-install.</a:t>
              </a:r>
            </a:p>
            <a:p>
              <a:pPr>
                <a:defRPr sz="2800"/>
              </a:pPr>
              <a:endParaRPr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97000" y="9748006"/>
            <a:ext cx="11378608" cy="12979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lnSpc>
                <a:spcPct val="100000"/>
              </a:lnSpc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Sora Regular"/>
              </a:defRPr>
            </a:lvl1pPr>
          </a:lstStyle>
          <a:p>
            <a:r>
              <a:rPr lang="da-DK" dirty="0"/>
              <a:t>One repo. </a:t>
            </a:r>
            <a:r>
              <a:rPr lang="da-DK" dirty="0" err="1"/>
              <a:t>every</a:t>
            </a:r>
            <a:r>
              <a:rPr lang="da-DK" dirty="0"/>
              <a:t> user </a:t>
            </a:r>
            <a:r>
              <a:rPr lang="da-DK" dirty="0" err="1"/>
              <a:t>covered</a:t>
            </a:r>
            <a:r>
              <a:rPr lang="da-DK" dirty="0"/>
              <a:t>.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ra Regular"/>
        <a:ea typeface="Sora Regular"/>
        <a:cs typeface="Sora Regular"/>
      </a:majorFont>
      <a:minorFont>
        <a:latin typeface="Sora Regular"/>
        <a:ea typeface="Sora Regular"/>
        <a:cs typeface="Sora Regular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048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ublic Sans Regular"/>
            <a:ea typeface="Public Sans Regular"/>
            <a:cs typeface="Public Sans Regular"/>
            <a:sym typeface="Public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ChronosHub Presentation Template (Winter 2025) (1)" id="{E67A45DE-25F8-4FFD-ADBA-DB8881810518}" vid="{10745965-B957-468A-9E6D-06F34891360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ra Regular"/>
        <a:ea typeface="Sora Regular"/>
        <a:cs typeface="Sora Regular"/>
      </a:majorFont>
      <a:minorFont>
        <a:latin typeface="Sora Regular"/>
        <a:ea typeface="Sora Regular"/>
        <a:cs typeface="Sora Regular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048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ublic Sans Regular"/>
            <a:ea typeface="Public Sans Regular"/>
            <a:cs typeface="Public Sans Regular"/>
            <a:sym typeface="Public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7B9DAA5485C4884DAC9AE6BD4FCCC" ma:contentTypeVersion="3" ma:contentTypeDescription="Create a new document." ma:contentTypeScope="" ma:versionID="bca1ed1051fbfc5da15ba8a56e99e615">
  <xsd:schema xmlns:xsd="http://www.w3.org/2001/XMLSchema" xmlns:xs="http://www.w3.org/2001/XMLSchema" xmlns:p="http://schemas.microsoft.com/office/2006/metadata/properties" xmlns:ns2="79387a8e-e5e3-4476-871a-055310360781" targetNamespace="http://schemas.microsoft.com/office/2006/metadata/properties" ma:root="true" ma:fieldsID="498d2e5b4be761b71e0300f23ce5f56a" ns2:_="">
    <xsd:import namespace="79387a8e-e5e3-4476-871a-0553103607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87a8e-e5e3-4476-871a-0553103607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AD54ED-EC74-48B5-8AED-4049FD0EA76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6333226-39CA-44B8-88AE-9DF85F50FC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C2F3DE-8852-41A0-9C2A-657A84E861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387a8e-e5e3-4476-871a-0553103607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1638</TotalTime>
  <Words>183</Words>
  <Application>Microsoft Office PowerPoint</Application>
  <PresentationFormat>Anpassad</PresentationFormat>
  <Paragraphs>32</Paragraphs>
  <Slides>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9" baseType="lpstr">
      <vt:lpstr>Helvetica Neue</vt:lpstr>
      <vt:lpstr>Public Sans Regular</vt:lpstr>
      <vt:lpstr>21_BasicWhite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Axel Rosén-Lidholm</cp:lastModifiedBy>
  <cp:revision>89</cp:revision>
  <dcterms:modified xsi:type="dcterms:W3CDTF">2026-06-11T12:42:13Z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0x010100D7E7B9DAA5485C4884DAC9AE6BD4FCCC</vt:lpwstr>
  </property>
</Properties>
</file>